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imes New Roman Bold" charset="1" panose="02020803070505020304"/>
      <p:regular r:id="rId22"/>
    </p:embeddedFont>
    <p:embeddedFont>
      <p:font typeface="Times New Roman" charset="1" panose="020206030504050203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2" Target="../media/image29.png" Type="http://schemas.openxmlformats.org/officeDocument/2006/relationships/image"/><Relationship Id="rId3" Target="../media/image30.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31.png" Type="http://schemas.openxmlformats.org/officeDocument/2006/relationships/image"/><Relationship Id="rId5" Target="../media/image3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23.png" Type="http://schemas.openxmlformats.org/officeDocument/2006/relationships/image"/><Relationship Id="rId15" Target="../media/image24.svg" Type="http://schemas.openxmlformats.org/officeDocument/2006/relationships/image"/><Relationship Id="rId16" Target="../media/image27.png" Type="http://schemas.openxmlformats.org/officeDocument/2006/relationships/image"/><Relationship Id="rId17" Target="../media/image2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3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3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3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3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3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3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3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4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19.png" Type="http://schemas.openxmlformats.org/officeDocument/2006/relationships/image"/><Relationship Id="rId19" Target="../media/image20.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22" Target="../media/image23.png" Type="http://schemas.openxmlformats.org/officeDocument/2006/relationships/image"/><Relationship Id="rId23" Target="../media/image24.svg" Type="http://schemas.openxmlformats.org/officeDocument/2006/relationships/image"/><Relationship Id="rId24" Target="../media/image25.png" Type="http://schemas.openxmlformats.org/officeDocument/2006/relationships/image"/><Relationship Id="rId25" Target="../media/image26.svg" Type="http://schemas.openxmlformats.org/officeDocument/2006/relationships/image"/><Relationship Id="rId26" Target="../media/image27.png" Type="http://schemas.openxmlformats.org/officeDocument/2006/relationships/image"/><Relationship Id="rId27"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50.svg" Type="http://schemas.openxmlformats.org/officeDocument/2006/relationships/image"/><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47.png" Type="http://schemas.openxmlformats.org/officeDocument/2006/relationships/image"/><Relationship Id="rId9" Target="../media/image4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19.png" Type="http://schemas.openxmlformats.org/officeDocument/2006/relationships/image"/><Relationship Id="rId19" Target="../media/image20.svg" Type="http://schemas.openxmlformats.org/officeDocument/2006/relationships/image"/><Relationship Id="rId2" Target="../media/image1.pn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22" Target="../media/image23.png" Type="http://schemas.openxmlformats.org/officeDocument/2006/relationships/image"/><Relationship Id="rId23" Target="../media/image24.svg" Type="http://schemas.openxmlformats.org/officeDocument/2006/relationships/image"/><Relationship Id="rId24" Target="../media/image25.png" Type="http://schemas.openxmlformats.org/officeDocument/2006/relationships/image"/><Relationship Id="rId25" Target="../media/image26.svg" Type="http://schemas.openxmlformats.org/officeDocument/2006/relationships/image"/><Relationship Id="rId26" Target="../media/image27.png" Type="http://schemas.openxmlformats.org/officeDocument/2006/relationships/image"/><Relationship Id="rId27" Target="../media/image28.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36705" y="6409875"/>
            <a:ext cx="724985" cy="920616"/>
          </a:xfrm>
          <a:custGeom>
            <a:avLst/>
            <a:gdLst/>
            <a:ahLst/>
            <a:cxnLst/>
            <a:rect r="r" b="b" t="t" l="l"/>
            <a:pathLst>
              <a:path h="920616" w="724985">
                <a:moveTo>
                  <a:pt x="0" y="0"/>
                </a:moveTo>
                <a:lnTo>
                  <a:pt x="724986" y="0"/>
                </a:lnTo>
                <a:lnTo>
                  <a:pt x="724986" y="920616"/>
                </a:lnTo>
                <a:lnTo>
                  <a:pt x="0" y="9206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5" id="15"/>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a:ln cap="sq">
            <a:noFill/>
            <a:prstDash val="solid"/>
            <a:miter/>
          </a:ln>
        </p:spPr>
      </p:sp>
      <p:sp>
        <p:nvSpPr>
          <p:cNvPr name="TextBox 16" id="16"/>
          <p:cNvSpPr txBox="true"/>
          <p:nvPr/>
        </p:nvSpPr>
        <p:spPr>
          <a:xfrm rot="0">
            <a:off x="3814858" y="2244982"/>
            <a:ext cx="10910396" cy="1484629"/>
          </a:xfrm>
          <a:prstGeom prst="rect">
            <a:avLst/>
          </a:prstGeom>
        </p:spPr>
        <p:txBody>
          <a:bodyPr anchor="t" rtlCol="false" tIns="0" lIns="0" bIns="0" rIns="0">
            <a:spAutoFit/>
          </a:bodyPr>
          <a:lstStyle/>
          <a:p>
            <a:pPr algn="ctr">
              <a:lnSpc>
                <a:spcPts val="3759"/>
              </a:lnSpc>
            </a:pPr>
            <a:r>
              <a:rPr lang="en-US" sz="3999" b="true">
                <a:solidFill>
                  <a:srgbClr val="000000"/>
                </a:solidFill>
                <a:latin typeface="Times New Roman Bold"/>
                <a:ea typeface="Times New Roman Bold"/>
                <a:cs typeface="Times New Roman Bold"/>
                <a:sym typeface="Times New Roman Bold"/>
              </a:rPr>
              <a:t>BÁO CÁO ĐỒ ÁN</a:t>
            </a:r>
          </a:p>
          <a:p>
            <a:pPr algn="ctr">
              <a:lnSpc>
                <a:spcPts val="3759"/>
              </a:lnSpc>
            </a:pPr>
            <a:r>
              <a:rPr lang="en-US" sz="3999" b="true">
                <a:solidFill>
                  <a:srgbClr val="000000"/>
                </a:solidFill>
                <a:latin typeface="Times New Roman Bold"/>
                <a:ea typeface="Times New Roman Bold"/>
                <a:cs typeface="Times New Roman Bold"/>
                <a:sym typeface="Times New Roman Bold"/>
              </a:rPr>
              <a:t>Chuyên đề Dotnet (TIE501)</a:t>
            </a:r>
          </a:p>
          <a:p>
            <a:pPr algn="ctr">
              <a:lnSpc>
                <a:spcPts val="3759"/>
              </a:lnSpc>
            </a:pPr>
          </a:p>
        </p:txBody>
      </p:sp>
      <p:sp>
        <p:nvSpPr>
          <p:cNvPr name="TextBox 17" id="17"/>
          <p:cNvSpPr txBox="true"/>
          <p:nvPr/>
        </p:nvSpPr>
        <p:spPr>
          <a:xfrm rot="0">
            <a:off x="4613815" y="4573905"/>
            <a:ext cx="9287856" cy="3009899"/>
          </a:xfrm>
          <a:prstGeom prst="rect">
            <a:avLst/>
          </a:prstGeom>
        </p:spPr>
        <p:txBody>
          <a:bodyPr anchor="t" rtlCol="false" tIns="0" lIns="0" bIns="0" rIns="0">
            <a:spAutoFit/>
          </a:bodyPr>
          <a:lstStyle/>
          <a:p>
            <a:pPr algn="ctr">
              <a:lnSpc>
                <a:spcPts val="2999"/>
              </a:lnSpc>
            </a:pPr>
            <a:r>
              <a:rPr lang="en-US" b="true" sz="2999" spc="-59">
                <a:solidFill>
                  <a:srgbClr val="000000"/>
                </a:solidFill>
                <a:latin typeface="Times New Roman Bold"/>
                <a:ea typeface="Times New Roman Bold"/>
                <a:cs typeface="Times New Roman Bold"/>
                <a:sym typeface="Times New Roman Bold"/>
              </a:rPr>
              <a:t>Giảng viên hướng dẫn: Ths. Nguyễn Ngọc Minh</a:t>
            </a:r>
          </a:p>
          <a:p>
            <a:pPr algn="ctr">
              <a:lnSpc>
                <a:spcPts val="2999"/>
              </a:lnSpc>
            </a:pPr>
          </a:p>
          <a:p>
            <a:pPr algn="ctr">
              <a:lnSpc>
                <a:spcPts val="2999"/>
              </a:lnSpc>
            </a:pPr>
            <a:r>
              <a:rPr lang="en-US" b="true" sz="2999" spc="-59">
                <a:solidFill>
                  <a:srgbClr val="000000"/>
                </a:solidFill>
                <a:latin typeface="Times New Roman Bold"/>
                <a:ea typeface="Times New Roman Bold"/>
                <a:cs typeface="Times New Roman Bold"/>
                <a:sym typeface="Times New Roman Bold"/>
              </a:rPr>
              <a:t>Sinh viên thực hiện:</a:t>
            </a:r>
          </a:p>
          <a:p>
            <a:pPr algn="ctr">
              <a:lnSpc>
                <a:spcPts val="2999"/>
              </a:lnSpc>
            </a:pPr>
            <a:r>
              <a:rPr lang="en-US" b="true" sz="2999" spc="-59">
                <a:solidFill>
                  <a:srgbClr val="000000"/>
                </a:solidFill>
                <a:latin typeface="Times New Roman Bold"/>
                <a:ea typeface="Times New Roman Bold"/>
                <a:cs typeface="Times New Roman Bold"/>
                <a:sym typeface="Times New Roman Bold"/>
              </a:rPr>
              <a:t>DTH235704 - Thái Vĩnh Nghi - Lớp DH24TH2_NhómTH2_TổTH2</a:t>
            </a:r>
          </a:p>
          <a:p>
            <a:pPr algn="ctr">
              <a:lnSpc>
                <a:spcPts val="2999"/>
              </a:lnSpc>
            </a:pPr>
            <a:r>
              <a:rPr lang="en-US" b="true" sz="2999" spc="-59">
                <a:solidFill>
                  <a:srgbClr val="000000"/>
                </a:solidFill>
                <a:latin typeface="Times New Roman Bold"/>
                <a:ea typeface="Times New Roman Bold"/>
                <a:cs typeface="Times New Roman Bold"/>
                <a:sym typeface="Times New Roman Bold"/>
              </a:rPr>
              <a:t>DTH235680 - Trần Đăng Khoa - Lớp DH24TH2_NhómTH2_TổTH2</a:t>
            </a:r>
          </a:p>
          <a:p>
            <a:pPr algn="ctr">
              <a:lnSpc>
                <a:spcPts val="2999"/>
              </a:lnSpc>
            </a:pPr>
          </a:p>
        </p:txBody>
      </p:sp>
      <p:sp>
        <p:nvSpPr>
          <p:cNvPr name="Freeform 18" id="18"/>
          <p:cNvSpPr/>
          <p:nvPr/>
        </p:nvSpPr>
        <p:spPr>
          <a:xfrm flipH="false" flipV="false" rot="0">
            <a:off x="4737926" y="2576219"/>
            <a:ext cx="724985" cy="920616"/>
          </a:xfrm>
          <a:custGeom>
            <a:avLst/>
            <a:gdLst/>
            <a:ahLst/>
            <a:cxnLst/>
            <a:rect r="r" b="b" t="t" l="l"/>
            <a:pathLst>
              <a:path h="920616" w="724985">
                <a:moveTo>
                  <a:pt x="0" y="0"/>
                </a:moveTo>
                <a:lnTo>
                  <a:pt x="724985" y="0"/>
                </a:lnTo>
                <a:lnTo>
                  <a:pt x="724985" y="920616"/>
                </a:lnTo>
                <a:lnTo>
                  <a:pt x="0" y="9206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10994934" y="2091045"/>
            <a:ext cx="6264366" cy="6104909"/>
          </a:xfrm>
          <a:custGeom>
            <a:avLst/>
            <a:gdLst/>
            <a:ahLst/>
            <a:cxnLst/>
            <a:rect r="r" b="b" t="t" l="l"/>
            <a:pathLst>
              <a:path h="6104909" w="6264366">
                <a:moveTo>
                  <a:pt x="0" y="0"/>
                </a:moveTo>
                <a:lnTo>
                  <a:pt x="6264366" y="0"/>
                </a:lnTo>
                <a:lnTo>
                  <a:pt x="6264366" y="6104910"/>
                </a:lnTo>
                <a:lnTo>
                  <a:pt x="0" y="610491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775818" y="2653045"/>
            <a:ext cx="7848753" cy="6071997"/>
          </a:xfrm>
          <a:prstGeom prst="rect">
            <a:avLst/>
          </a:prstGeom>
        </p:spPr>
        <p:txBody>
          <a:bodyPr anchor="t" rtlCol="false" tIns="0" lIns="0" bIns="0" rIns="0">
            <a:spAutoFit/>
          </a:bodyPr>
          <a:lstStyle/>
          <a:p>
            <a:pPr algn="just">
              <a:lnSpc>
                <a:spcPts val="6984"/>
              </a:lnSpc>
            </a:pPr>
            <a:r>
              <a:rPr lang="en-US" sz="7200" b="true">
                <a:solidFill>
                  <a:srgbClr val="000000"/>
                </a:solidFill>
                <a:latin typeface="Times New Roman Bold"/>
                <a:ea typeface="Times New Roman Bold"/>
                <a:cs typeface="Times New Roman Bold"/>
                <a:sym typeface="Times New Roman Bold"/>
              </a:rPr>
              <a:t>Mục lục </a:t>
            </a:r>
          </a:p>
          <a:p>
            <a:pPr algn="just">
              <a:lnSpc>
                <a:spcPts val="4074"/>
              </a:lnSpc>
            </a:pPr>
            <a:r>
              <a:rPr lang="en-US" sz="4200" b="true">
                <a:solidFill>
                  <a:srgbClr val="000000"/>
                </a:solidFill>
                <a:latin typeface="Times New Roman Bold"/>
                <a:ea typeface="Times New Roman Bold"/>
                <a:cs typeface="Times New Roman Bold"/>
                <a:sym typeface="Times New Roman Bold"/>
              </a:rPr>
              <a:t>I. G</a:t>
            </a:r>
            <a:r>
              <a:rPr lang="en-US" sz="4200" b="true">
                <a:solidFill>
                  <a:srgbClr val="000000"/>
                </a:solidFill>
                <a:latin typeface="Times New Roman Bold"/>
                <a:ea typeface="Times New Roman Bold"/>
                <a:cs typeface="Times New Roman Bold"/>
                <a:sym typeface="Times New Roman Bold"/>
              </a:rPr>
              <a:t>iới thiệu chung </a:t>
            </a:r>
          </a:p>
          <a:p>
            <a:pPr algn="just">
              <a:lnSpc>
                <a:spcPts val="4074"/>
              </a:lnSpc>
            </a:pPr>
            <a:r>
              <a:rPr lang="en-US" sz="4200" b="true">
                <a:solidFill>
                  <a:srgbClr val="000000"/>
                </a:solidFill>
                <a:latin typeface="Times New Roman Bold"/>
                <a:ea typeface="Times New Roman Bold"/>
                <a:cs typeface="Times New Roman Bold"/>
                <a:sym typeface="Times New Roman Bold"/>
              </a:rPr>
              <a:t>1. Đặt vấn đề </a:t>
            </a:r>
          </a:p>
          <a:p>
            <a:pPr algn="just">
              <a:lnSpc>
                <a:spcPts val="4074"/>
              </a:lnSpc>
            </a:pPr>
            <a:r>
              <a:rPr lang="en-US" sz="4200" b="true">
                <a:solidFill>
                  <a:srgbClr val="000000"/>
                </a:solidFill>
                <a:latin typeface="Times New Roman Bold"/>
                <a:ea typeface="Times New Roman Bold"/>
                <a:cs typeface="Times New Roman Bold"/>
                <a:sym typeface="Times New Roman Bold"/>
              </a:rPr>
              <a:t>2. Mục tiêu đề tài </a:t>
            </a:r>
          </a:p>
          <a:p>
            <a:pPr algn="just">
              <a:lnSpc>
                <a:spcPts val="4074"/>
              </a:lnSpc>
            </a:pPr>
            <a:r>
              <a:rPr lang="en-US" sz="4200" b="true">
                <a:solidFill>
                  <a:srgbClr val="000000"/>
                </a:solidFill>
                <a:latin typeface="Times New Roman Bold"/>
                <a:ea typeface="Times New Roman Bold"/>
                <a:cs typeface="Times New Roman Bold"/>
                <a:sym typeface="Times New Roman Bold"/>
              </a:rPr>
              <a:t>3. Công cụ sử dụng </a:t>
            </a:r>
          </a:p>
          <a:p>
            <a:pPr algn="just">
              <a:lnSpc>
                <a:spcPts val="4074"/>
              </a:lnSpc>
            </a:pPr>
            <a:r>
              <a:rPr lang="en-US" sz="4200" b="true">
                <a:solidFill>
                  <a:srgbClr val="000000"/>
                </a:solidFill>
                <a:latin typeface="Times New Roman Bold"/>
                <a:ea typeface="Times New Roman Bold"/>
                <a:cs typeface="Times New Roman Bold"/>
                <a:sym typeface="Times New Roman Bold"/>
              </a:rPr>
              <a:t>II. Phân tích thiết kế hệ thống </a:t>
            </a:r>
          </a:p>
          <a:p>
            <a:pPr algn="just">
              <a:lnSpc>
                <a:spcPts val="4074"/>
              </a:lnSpc>
            </a:pPr>
            <a:r>
              <a:rPr lang="en-US" sz="4200" b="true">
                <a:solidFill>
                  <a:srgbClr val="000000"/>
                </a:solidFill>
                <a:latin typeface="Times New Roman Bold"/>
                <a:ea typeface="Times New Roman Bold"/>
                <a:cs typeface="Times New Roman Bold"/>
                <a:sym typeface="Times New Roman Bold"/>
              </a:rPr>
              <a:t>III. Giao diện chương trình </a:t>
            </a:r>
          </a:p>
          <a:p>
            <a:pPr algn="just">
              <a:lnSpc>
                <a:spcPts val="4074"/>
              </a:lnSpc>
            </a:pPr>
            <a:r>
              <a:rPr lang="en-US" sz="4200" b="true">
                <a:solidFill>
                  <a:srgbClr val="000000"/>
                </a:solidFill>
                <a:latin typeface="Times New Roman Bold"/>
                <a:ea typeface="Times New Roman Bold"/>
                <a:cs typeface="Times New Roman Bold"/>
                <a:sym typeface="Times New Roman Bold"/>
              </a:rPr>
              <a:t>IV. Kết luận </a:t>
            </a:r>
          </a:p>
          <a:p>
            <a:pPr algn="just">
              <a:lnSpc>
                <a:spcPts val="4074"/>
              </a:lnSpc>
            </a:pPr>
            <a:r>
              <a:rPr lang="en-US" sz="4200" b="true">
                <a:solidFill>
                  <a:srgbClr val="000000"/>
                </a:solidFill>
                <a:latin typeface="Times New Roman Bold"/>
                <a:ea typeface="Times New Roman Bold"/>
                <a:cs typeface="Times New Roman Bold"/>
                <a:sym typeface="Times New Roman Bold"/>
              </a:rPr>
              <a:t>V. Tài liệu tham khảo </a:t>
            </a:r>
          </a:p>
          <a:p>
            <a:pPr algn="just">
              <a:lnSpc>
                <a:spcPts val="4074"/>
              </a:lnSpc>
            </a:pPr>
          </a:p>
          <a:p>
            <a:pPr algn="just">
              <a:lnSpc>
                <a:spcPts val="4074"/>
              </a:lnSpc>
            </a:pPr>
          </a:p>
        </p:txBody>
      </p:sp>
      <p:sp>
        <p:nvSpPr>
          <p:cNvPr name="Freeform 4" id="4"/>
          <p:cNvSpPr/>
          <p:nvPr/>
        </p:nvSpPr>
        <p:spPr>
          <a:xfrm flipH="false" flipV="false" rot="0">
            <a:off x="15353489"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6" id="6"/>
          <p:cNvSpPr/>
          <p:nvPr/>
        </p:nvSpPr>
        <p:spPr>
          <a:xfrm flipH="false" flipV="false" rot="0">
            <a:off x="9144000"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7" id="7"/>
          <p:cNvSpPr/>
          <p:nvPr/>
        </p:nvSpPr>
        <p:spPr>
          <a:xfrm flipH="false" flipV="false" rot="0">
            <a:off x="5003948" y="-1890601"/>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8" id="8"/>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1504950" y="1542058"/>
            <a:ext cx="7025086" cy="2320290"/>
          </a:xfrm>
          <a:prstGeom prst="rect">
            <a:avLst/>
          </a:prstGeom>
        </p:spPr>
        <p:txBody>
          <a:bodyPr anchor="t" rtlCol="false" tIns="0" lIns="0" bIns="0" rIns="0">
            <a:spAutoFit/>
          </a:bodyPr>
          <a:lstStyle/>
          <a:p>
            <a:pPr algn="ctr">
              <a:lnSpc>
                <a:spcPts val="8730"/>
              </a:lnSpc>
            </a:pPr>
            <a:r>
              <a:rPr lang="en-US" b="true" sz="9000">
                <a:solidFill>
                  <a:srgbClr val="000000"/>
                </a:solidFill>
                <a:latin typeface="Times New Roman Bold"/>
                <a:ea typeface="Times New Roman Bold"/>
                <a:cs typeface="Times New Roman Bold"/>
                <a:sym typeface="Times New Roman Bold"/>
              </a:rPr>
              <a:t>I. Giới thiệu chung</a:t>
            </a:r>
          </a:p>
        </p:txBody>
      </p:sp>
      <p:sp>
        <p:nvSpPr>
          <p:cNvPr name="TextBox 3" id="3"/>
          <p:cNvSpPr txBox="true"/>
          <p:nvPr/>
        </p:nvSpPr>
        <p:spPr>
          <a:xfrm rot="0">
            <a:off x="1003016" y="4134066"/>
            <a:ext cx="7443134" cy="4604385"/>
          </a:xfrm>
          <a:prstGeom prst="rect">
            <a:avLst/>
          </a:prstGeom>
        </p:spPr>
        <p:txBody>
          <a:bodyPr anchor="t" rtlCol="false" tIns="0" lIns="0" bIns="0" rIns="0">
            <a:spAutoFit/>
          </a:bodyPr>
          <a:lstStyle/>
          <a:p>
            <a:pPr algn="just" marL="0" indent="0" lvl="0">
              <a:lnSpc>
                <a:spcPts val="2699"/>
              </a:lnSpc>
              <a:spcBef>
                <a:spcPct val="0"/>
              </a:spcBef>
            </a:pPr>
            <a:r>
              <a:rPr lang="en-US" b="true" sz="1999" spc="119">
                <a:solidFill>
                  <a:srgbClr val="000000"/>
                </a:solidFill>
                <a:latin typeface="Times New Roman Bold"/>
                <a:ea typeface="Times New Roman Bold"/>
                <a:cs typeface="Times New Roman Bold"/>
                <a:sym typeface="Times New Roman Bold"/>
              </a:rPr>
              <a:t>Phạ</a:t>
            </a:r>
            <a:r>
              <a:rPr lang="en-US" b="true" sz="1999" spc="119" u="none">
                <a:solidFill>
                  <a:srgbClr val="000000"/>
                </a:solidFill>
                <a:latin typeface="Times New Roman Bold"/>
                <a:ea typeface="Times New Roman Bold"/>
                <a:cs typeface="Times New Roman Bold"/>
                <a:sym typeface="Times New Roman Bold"/>
              </a:rPr>
              <a:t>m vi đề tài</a:t>
            </a:r>
            <a:r>
              <a:rPr lang="en-US" sz="1999" spc="119" u="none">
                <a:solidFill>
                  <a:srgbClr val="000000"/>
                </a:solidFill>
                <a:latin typeface="Times New Roman"/>
                <a:ea typeface="Times New Roman"/>
                <a:cs typeface="Times New Roman"/>
                <a:sym typeface="Times New Roman"/>
              </a:rPr>
              <a:t> </a:t>
            </a:r>
          </a:p>
          <a:p>
            <a:pPr algn="just" marL="0" indent="0" lvl="0">
              <a:lnSpc>
                <a:spcPts val="2160"/>
              </a:lnSpc>
              <a:spcBef>
                <a:spcPct val="0"/>
              </a:spcBef>
            </a:pPr>
            <a:r>
              <a:rPr lang="en-US" sz="1600" spc="96" u="none">
                <a:solidFill>
                  <a:srgbClr val="000000"/>
                </a:solidFill>
                <a:latin typeface="Times New Roman"/>
                <a:ea typeface="Times New Roman"/>
                <a:cs typeface="Times New Roman"/>
                <a:sym typeface="Times New Roman"/>
              </a:rPr>
              <a:t>- Quản lý Sản phẩm Tivi :</a:t>
            </a:r>
          </a:p>
          <a:p>
            <a:pPr algn="just" marL="0" indent="0" lvl="0">
              <a:lnSpc>
                <a:spcPts val="2160"/>
              </a:lnSpc>
              <a:spcBef>
                <a:spcPct val="0"/>
              </a:spcBef>
            </a:pPr>
            <a:r>
              <a:rPr lang="en-US" sz="1600" spc="96" u="none">
                <a:solidFill>
                  <a:srgbClr val="000000"/>
                </a:solidFill>
                <a:latin typeface="Times New Roman"/>
                <a:ea typeface="Times New Roman"/>
                <a:cs typeface="Times New Roman"/>
                <a:sym typeface="Times New Roman"/>
              </a:rPr>
              <a:t>-Thêm, xóa, sửa thông tin chi tiết của từng mẫu Tivi.Tìm kiếm và lọc sản phẩm theo nhiều tiêu chí (Mã sản phẩm, Hãng, Kích thước, v.v.).</a:t>
            </a:r>
          </a:p>
          <a:p>
            <a:pPr algn="just" marL="0" indent="0" lvl="0">
              <a:lnSpc>
                <a:spcPts val="2160"/>
              </a:lnSpc>
              <a:spcBef>
                <a:spcPct val="0"/>
              </a:spcBef>
            </a:pPr>
            <a:r>
              <a:rPr lang="en-US" sz="1600" spc="96" u="none">
                <a:solidFill>
                  <a:srgbClr val="000000"/>
                </a:solidFill>
                <a:latin typeface="Times New Roman"/>
                <a:ea typeface="Times New Roman"/>
                <a:cs typeface="Times New Roman"/>
                <a:sym typeface="Times New Roman"/>
              </a:rPr>
              <a:t>- Quản lý Tồn kho :</a:t>
            </a:r>
          </a:p>
          <a:p>
            <a:pPr algn="just" marL="0" indent="0" lvl="0">
              <a:lnSpc>
                <a:spcPts val="2160"/>
              </a:lnSpc>
              <a:spcBef>
                <a:spcPct val="0"/>
              </a:spcBef>
            </a:pPr>
            <a:r>
              <a:rPr lang="en-US" sz="1600" spc="96" u="none">
                <a:solidFill>
                  <a:srgbClr val="000000"/>
                </a:solidFill>
                <a:latin typeface="Times New Roman"/>
                <a:ea typeface="Times New Roman"/>
                <a:cs typeface="Times New Roman"/>
                <a:sym typeface="Times New Roman"/>
              </a:rPr>
              <a:t>-Theo dõi số lượng nhập, xuất, tồn kho hiện tại của từng mẫu Tivi.</a:t>
            </a:r>
          </a:p>
          <a:p>
            <a:pPr algn="just" marL="0" indent="0" lvl="0">
              <a:lnSpc>
                <a:spcPts val="2160"/>
              </a:lnSpc>
              <a:spcBef>
                <a:spcPct val="0"/>
              </a:spcBef>
            </a:pPr>
            <a:r>
              <a:rPr lang="en-US" sz="1600" spc="96" u="none">
                <a:solidFill>
                  <a:srgbClr val="000000"/>
                </a:solidFill>
                <a:latin typeface="Times New Roman"/>
                <a:ea typeface="Times New Roman"/>
                <a:cs typeface="Times New Roman"/>
                <a:sym typeface="Times New Roman"/>
              </a:rPr>
              <a:t>-Cập nhật tình trạng tồn kho khi có giao dịch mua bán hoặc nhập hàng mới.</a:t>
            </a:r>
          </a:p>
          <a:p>
            <a:pPr algn="just" marL="0" indent="0" lvl="0">
              <a:lnSpc>
                <a:spcPts val="2160"/>
              </a:lnSpc>
              <a:spcBef>
                <a:spcPct val="0"/>
              </a:spcBef>
            </a:pPr>
            <a:r>
              <a:rPr lang="en-US" sz="1600" spc="96" u="none">
                <a:solidFill>
                  <a:srgbClr val="000000"/>
                </a:solidFill>
                <a:latin typeface="Times New Roman"/>
                <a:ea typeface="Times New Roman"/>
                <a:cs typeface="Times New Roman"/>
                <a:sym typeface="Times New Roman"/>
              </a:rPr>
              <a:t>-Cảnh báo tồn kho thấp (nếu có thể).</a:t>
            </a:r>
          </a:p>
          <a:p>
            <a:pPr algn="just" marL="0" indent="0" lvl="0">
              <a:lnSpc>
                <a:spcPts val="2160"/>
              </a:lnSpc>
              <a:spcBef>
                <a:spcPct val="0"/>
              </a:spcBef>
            </a:pPr>
            <a:r>
              <a:rPr lang="en-US" sz="1600" spc="96" u="none">
                <a:solidFill>
                  <a:srgbClr val="000000"/>
                </a:solidFill>
                <a:latin typeface="Times New Roman"/>
                <a:ea typeface="Times New Roman"/>
                <a:cs typeface="Times New Roman"/>
                <a:sym typeface="Times New Roman"/>
              </a:rPr>
              <a:t>Quản lý Khách hàng:</a:t>
            </a:r>
          </a:p>
          <a:p>
            <a:pPr algn="just" marL="0" indent="0" lvl="0">
              <a:lnSpc>
                <a:spcPts val="2160"/>
              </a:lnSpc>
              <a:spcBef>
                <a:spcPct val="0"/>
              </a:spcBef>
            </a:pPr>
            <a:r>
              <a:rPr lang="en-US" sz="1600" spc="96" u="none">
                <a:solidFill>
                  <a:srgbClr val="000000"/>
                </a:solidFill>
                <a:latin typeface="Times New Roman"/>
                <a:ea typeface="Times New Roman"/>
                <a:cs typeface="Times New Roman"/>
                <a:sym typeface="Times New Roman"/>
              </a:rPr>
              <a:t>-Lưu trữ thông tin khách hang.Quản lý lịch sử mua hàng của từng khách hàng.</a:t>
            </a:r>
          </a:p>
          <a:p>
            <a:pPr algn="just" marL="0" indent="0" lvl="0">
              <a:lnSpc>
                <a:spcPts val="2160"/>
              </a:lnSpc>
              <a:spcBef>
                <a:spcPct val="0"/>
              </a:spcBef>
            </a:pPr>
            <a:r>
              <a:rPr lang="en-US" sz="1600" spc="96" u="none">
                <a:solidFill>
                  <a:srgbClr val="000000"/>
                </a:solidFill>
                <a:latin typeface="Times New Roman"/>
                <a:ea typeface="Times New Roman"/>
                <a:cs typeface="Times New Roman"/>
                <a:sym typeface="Times New Roman"/>
              </a:rPr>
              <a:t>Quản lý Nhân viên:</a:t>
            </a:r>
          </a:p>
          <a:p>
            <a:pPr algn="just" marL="0" indent="0" lvl="0">
              <a:lnSpc>
                <a:spcPts val="2160"/>
              </a:lnSpc>
              <a:spcBef>
                <a:spcPct val="0"/>
              </a:spcBef>
            </a:pPr>
            <a:r>
              <a:rPr lang="en-US" sz="1600" spc="96" u="none">
                <a:solidFill>
                  <a:srgbClr val="000000"/>
                </a:solidFill>
                <a:latin typeface="Times New Roman"/>
                <a:ea typeface="Times New Roman"/>
                <a:cs typeface="Times New Roman"/>
                <a:sym typeface="Times New Roman"/>
              </a:rPr>
              <a:t>-Lưu trữ thông tin cơ bản của nhân viên.Phân quyền người dùng cơ bản để truy cập các chức năng khác nhau của hệ thống.</a:t>
            </a:r>
          </a:p>
          <a:p>
            <a:pPr algn="just" marL="0" indent="0" lvl="0">
              <a:lnSpc>
                <a:spcPts val="2160"/>
              </a:lnSpc>
              <a:spcBef>
                <a:spcPct val="0"/>
              </a:spcBef>
            </a:pPr>
            <a:r>
              <a:rPr lang="en-US" sz="1600" spc="96" u="none">
                <a:solidFill>
                  <a:srgbClr val="000000"/>
                </a:solidFill>
                <a:latin typeface="Times New Roman"/>
                <a:ea typeface="Times New Roman"/>
                <a:cs typeface="Times New Roman"/>
                <a:sym typeface="Times New Roman"/>
              </a:rPr>
              <a:t>Quản lý Giao dịch (Bán hàng):</a:t>
            </a:r>
          </a:p>
          <a:p>
            <a:pPr algn="just" marL="0" indent="0" lvl="0">
              <a:lnSpc>
                <a:spcPts val="2160"/>
              </a:lnSpc>
              <a:spcBef>
                <a:spcPct val="0"/>
              </a:spcBef>
            </a:pPr>
            <a:r>
              <a:rPr lang="en-US" sz="1600" spc="96" u="none">
                <a:solidFill>
                  <a:srgbClr val="000000"/>
                </a:solidFill>
                <a:latin typeface="Times New Roman"/>
                <a:ea typeface="Times New Roman"/>
                <a:cs typeface="Times New Roman"/>
                <a:sym typeface="Times New Roman"/>
              </a:rPr>
              <a:t> -Lập hóa đơn bán hàng, ghi nhận thông tin sản phẩm, số lượng, giá bán,     chiết khấu (nếu có) và tổng tiền.Lưu trữ thông tin giao dịch vào cơ sở dữ liệu.</a:t>
            </a:r>
          </a:p>
          <a:p>
            <a:pPr algn="just" marL="0" indent="0" lvl="0">
              <a:lnSpc>
                <a:spcPts val="2160"/>
              </a:lnSpc>
              <a:spcBef>
                <a:spcPct val="0"/>
              </a:spcBef>
            </a:pPr>
          </a:p>
        </p:txBody>
      </p:sp>
      <p:grpSp>
        <p:nvGrpSpPr>
          <p:cNvPr name="Group 4" id="4"/>
          <p:cNvGrpSpPr/>
          <p:nvPr/>
        </p:nvGrpSpPr>
        <p:grpSpPr>
          <a:xfrm rot="0">
            <a:off x="9975489" y="1170261"/>
            <a:ext cx="6998061" cy="2561528"/>
            <a:chOff x="0" y="0"/>
            <a:chExt cx="2342659" cy="857492"/>
          </a:xfrm>
        </p:grpSpPr>
        <p:sp>
          <p:nvSpPr>
            <p:cNvPr name="Freeform 5" id="5"/>
            <p:cNvSpPr/>
            <p:nvPr/>
          </p:nvSpPr>
          <p:spPr>
            <a:xfrm flipH="false" flipV="false" rot="0">
              <a:off x="0" y="0"/>
              <a:ext cx="2342659" cy="857492"/>
            </a:xfrm>
            <a:custGeom>
              <a:avLst/>
              <a:gdLst/>
              <a:ahLst/>
              <a:cxnLst/>
              <a:rect r="r" b="b" t="t" l="l"/>
              <a:pathLst>
                <a:path h="857492" w="2342659">
                  <a:moveTo>
                    <a:pt x="16594" y="0"/>
                  </a:moveTo>
                  <a:lnTo>
                    <a:pt x="2326064" y="0"/>
                  </a:lnTo>
                  <a:cubicBezTo>
                    <a:pt x="2335229" y="0"/>
                    <a:pt x="2342659" y="7430"/>
                    <a:pt x="2342659" y="16594"/>
                  </a:cubicBezTo>
                  <a:lnTo>
                    <a:pt x="2342659" y="840898"/>
                  </a:lnTo>
                  <a:cubicBezTo>
                    <a:pt x="2342659" y="845299"/>
                    <a:pt x="2340910" y="849520"/>
                    <a:pt x="2337798" y="852632"/>
                  </a:cubicBezTo>
                  <a:cubicBezTo>
                    <a:pt x="2334686" y="855744"/>
                    <a:pt x="2330465" y="857492"/>
                    <a:pt x="2326064" y="857492"/>
                  </a:cubicBezTo>
                  <a:lnTo>
                    <a:pt x="16594" y="857492"/>
                  </a:lnTo>
                  <a:cubicBezTo>
                    <a:pt x="7430" y="857492"/>
                    <a:pt x="0" y="850063"/>
                    <a:pt x="0" y="840898"/>
                  </a:cubicBezTo>
                  <a:lnTo>
                    <a:pt x="0" y="16594"/>
                  </a:lnTo>
                  <a:cubicBezTo>
                    <a:pt x="0" y="7430"/>
                    <a:pt x="7430" y="0"/>
                    <a:pt x="16594" y="0"/>
                  </a:cubicBezTo>
                  <a:close/>
                </a:path>
              </a:pathLst>
            </a:custGeom>
            <a:solidFill>
              <a:srgbClr val="8AB7E2"/>
            </a:solidFill>
          </p:spPr>
        </p:sp>
        <p:sp>
          <p:nvSpPr>
            <p:cNvPr name="TextBox 6" id="6"/>
            <p:cNvSpPr txBox="true"/>
            <p:nvPr/>
          </p:nvSpPr>
          <p:spPr>
            <a:xfrm>
              <a:off x="0" y="85725"/>
              <a:ext cx="2342659" cy="771767"/>
            </a:xfrm>
            <a:prstGeom prst="rect">
              <a:avLst/>
            </a:prstGeom>
          </p:spPr>
          <p:txBody>
            <a:bodyPr anchor="ctr" rtlCol="false" tIns="50800" lIns="50800" bIns="50800" rIns="50800"/>
            <a:lstStyle/>
            <a:p>
              <a:pPr algn="ctr">
                <a:lnSpc>
                  <a:spcPts val="1925"/>
                </a:lnSpc>
              </a:pPr>
            </a:p>
          </p:txBody>
        </p:sp>
      </p:grpSp>
      <p:sp>
        <p:nvSpPr>
          <p:cNvPr name="TextBox 7" id="7"/>
          <p:cNvSpPr txBox="true"/>
          <p:nvPr/>
        </p:nvSpPr>
        <p:spPr>
          <a:xfrm rot="0">
            <a:off x="10491672" y="1995726"/>
            <a:ext cx="1578952" cy="1062998"/>
          </a:xfrm>
          <a:prstGeom prst="rect">
            <a:avLst/>
          </a:prstGeom>
        </p:spPr>
        <p:txBody>
          <a:bodyPr anchor="t" rtlCol="false" tIns="0" lIns="0" bIns="0" rIns="0">
            <a:spAutoFit/>
          </a:bodyPr>
          <a:lstStyle/>
          <a:p>
            <a:pPr algn="l">
              <a:lnSpc>
                <a:spcPts val="7680"/>
              </a:lnSpc>
            </a:pPr>
            <a:r>
              <a:rPr lang="en-US" sz="8000" spc="-656">
                <a:solidFill>
                  <a:srgbClr val="000000"/>
                </a:solidFill>
                <a:latin typeface="Times New Roman"/>
                <a:ea typeface="Times New Roman"/>
                <a:cs typeface="Times New Roman"/>
                <a:sym typeface="Times New Roman"/>
              </a:rPr>
              <a:t>01.</a:t>
            </a:r>
          </a:p>
        </p:txBody>
      </p:sp>
      <p:grpSp>
        <p:nvGrpSpPr>
          <p:cNvPr name="Group 8" id="8"/>
          <p:cNvGrpSpPr/>
          <p:nvPr/>
        </p:nvGrpSpPr>
        <p:grpSpPr>
          <a:xfrm rot="0">
            <a:off x="9975489" y="3862348"/>
            <a:ext cx="6998061" cy="2561528"/>
            <a:chOff x="0" y="0"/>
            <a:chExt cx="2342659" cy="857492"/>
          </a:xfrm>
        </p:grpSpPr>
        <p:sp>
          <p:nvSpPr>
            <p:cNvPr name="Freeform 9" id="9"/>
            <p:cNvSpPr/>
            <p:nvPr/>
          </p:nvSpPr>
          <p:spPr>
            <a:xfrm flipH="false" flipV="false" rot="0">
              <a:off x="0" y="0"/>
              <a:ext cx="2342659" cy="857492"/>
            </a:xfrm>
            <a:custGeom>
              <a:avLst/>
              <a:gdLst/>
              <a:ahLst/>
              <a:cxnLst/>
              <a:rect r="r" b="b" t="t" l="l"/>
              <a:pathLst>
                <a:path h="857492" w="2342659">
                  <a:moveTo>
                    <a:pt x="16594" y="0"/>
                  </a:moveTo>
                  <a:lnTo>
                    <a:pt x="2326064" y="0"/>
                  </a:lnTo>
                  <a:cubicBezTo>
                    <a:pt x="2335229" y="0"/>
                    <a:pt x="2342659" y="7430"/>
                    <a:pt x="2342659" y="16594"/>
                  </a:cubicBezTo>
                  <a:lnTo>
                    <a:pt x="2342659" y="840898"/>
                  </a:lnTo>
                  <a:cubicBezTo>
                    <a:pt x="2342659" y="845299"/>
                    <a:pt x="2340910" y="849520"/>
                    <a:pt x="2337798" y="852632"/>
                  </a:cubicBezTo>
                  <a:cubicBezTo>
                    <a:pt x="2334686" y="855744"/>
                    <a:pt x="2330465" y="857492"/>
                    <a:pt x="2326064" y="857492"/>
                  </a:cubicBezTo>
                  <a:lnTo>
                    <a:pt x="16594" y="857492"/>
                  </a:lnTo>
                  <a:cubicBezTo>
                    <a:pt x="7430" y="857492"/>
                    <a:pt x="0" y="850063"/>
                    <a:pt x="0" y="840898"/>
                  </a:cubicBezTo>
                  <a:lnTo>
                    <a:pt x="0" y="16594"/>
                  </a:lnTo>
                  <a:cubicBezTo>
                    <a:pt x="0" y="7430"/>
                    <a:pt x="7430" y="0"/>
                    <a:pt x="16594" y="0"/>
                  </a:cubicBezTo>
                  <a:close/>
                </a:path>
              </a:pathLst>
            </a:custGeom>
            <a:solidFill>
              <a:srgbClr val="8AB7E2"/>
            </a:solidFill>
          </p:spPr>
        </p:sp>
        <p:sp>
          <p:nvSpPr>
            <p:cNvPr name="TextBox 10" id="10"/>
            <p:cNvSpPr txBox="true"/>
            <p:nvPr/>
          </p:nvSpPr>
          <p:spPr>
            <a:xfrm>
              <a:off x="0" y="85725"/>
              <a:ext cx="2342659" cy="771767"/>
            </a:xfrm>
            <a:prstGeom prst="rect">
              <a:avLst/>
            </a:prstGeom>
          </p:spPr>
          <p:txBody>
            <a:bodyPr anchor="ctr" rtlCol="false" tIns="50800" lIns="50800" bIns="50800" rIns="50800"/>
            <a:lstStyle/>
            <a:p>
              <a:pPr algn="ctr">
                <a:lnSpc>
                  <a:spcPts val="1925"/>
                </a:lnSpc>
              </a:pPr>
            </a:p>
          </p:txBody>
        </p:sp>
      </p:grpSp>
      <p:grpSp>
        <p:nvGrpSpPr>
          <p:cNvPr name="Group 11" id="11"/>
          <p:cNvGrpSpPr/>
          <p:nvPr/>
        </p:nvGrpSpPr>
        <p:grpSpPr>
          <a:xfrm rot="0">
            <a:off x="9975489" y="6557226"/>
            <a:ext cx="6998061" cy="2561528"/>
            <a:chOff x="0" y="0"/>
            <a:chExt cx="2342659" cy="857492"/>
          </a:xfrm>
        </p:grpSpPr>
        <p:sp>
          <p:nvSpPr>
            <p:cNvPr name="Freeform 12" id="12"/>
            <p:cNvSpPr/>
            <p:nvPr/>
          </p:nvSpPr>
          <p:spPr>
            <a:xfrm flipH="false" flipV="false" rot="0">
              <a:off x="0" y="0"/>
              <a:ext cx="2342659" cy="857492"/>
            </a:xfrm>
            <a:custGeom>
              <a:avLst/>
              <a:gdLst/>
              <a:ahLst/>
              <a:cxnLst/>
              <a:rect r="r" b="b" t="t" l="l"/>
              <a:pathLst>
                <a:path h="857492" w="2342659">
                  <a:moveTo>
                    <a:pt x="16594" y="0"/>
                  </a:moveTo>
                  <a:lnTo>
                    <a:pt x="2326064" y="0"/>
                  </a:lnTo>
                  <a:cubicBezTo>
                    <a:pt x="2335229" y="0"/>
                    <a:pt x="2342659" y="7430"/>
                    <a:pt x="2342659" y="16594"/>
                  </a:cubicBezTo>
                  <a:lnTo>
                    <a:pt x="2342659" y="840898"/>
                  </a:lnTo>
                  <a:cubicBezTo>
                    <a:pt x="2342659" y="845299"/>
                    <a:pt x="2340910" y="849520"/>
                    <a:pt x="2337798" y="852632"/>
                  </a:cubicBezTo>
                  <a:cubicBezTo>
                    <a:pt x="2334686" y="855744"/>
                    <a:pt x="2330465" y="857492"/>
                    <a:pt x="2326064" y="857492"/>
                  </a:cubicBezTo>
                  <a:lnTo>
                    <a:pt x="16594" y="857492"/>
                  </a:lnTo>
                  <a:cubicBezTo>
                    <a:pt x="7430" y="857492"/>
                    <a:pt x="0" y="850063"/>
                    <a:pt x="0" y="840898"/>
                  </a:cubicBezTo>
                  <a:lnTo>
                    <a:pt x="0" y="16594"/>
                  </a:lnTo>
                  <a:cubicBezTo>
                    <a:pt x="0" y="7430"/>
                    <a:pt x="7430" y="0"/>
                    <a:pt x="16594" y="0"/>
                  </a:cubicBezTo>
                  <a:close/>
                </a:path>
              </a:pathLst>
            </a:custGeom>
            <a:solidFill>
              <a:srgbClr val="8AB7E2"/>
            </a:solidFill>
          </p:spPr>
        </p:sp>
        <p:sp>
          <p:nvSpPr>
            <p:cNvPr name="TextBox 13" id="13"/>
            <p:cNvSpPr txBox="true"/>
            <p:nvPr/>
          </p:nvSpPr>
          <p:spPr>
            <a:xfrm>
              <a:off x="0" y="85725"/>
              <a:ext cx="2342659" cy="771767"/>
            </a:xfrm>
            <a:prstGeom prst="rect">
              <a:avLst/>
            </a:prstGeom>
          </p:spPr>
          <p:txBody>
            <a:bodyPr anchor="ctr" rtlCol="false" tIns="50800" lIns="50800" bIns="50800" rIns="50800"/>
            <a:lstStyle/>
            <a:p>
              <a:pPr algn="ctr">
                <a:lnSpc>
                  <a:spcPts val="1925"/>
                </a:lnSpc>
              </a:pPr>
            </a:p>
          </p:txBody>
        </p:sp>
      </p:grpSp>
      <p:sp>
        <p:nvSpPr>
          <p:cNvPr name="TextBox 14" id="14"/>
          <p:cNvSpPr txBox="true"/>
          <p:nvPr/>
        </p:nvSpPr>
        <p:spPr>
          <a:xfrm rot="0">
            <a:off x="10491672" y="4689208"/>
            <a:ext cx="1578952" cy="1062998"/>
          </a:xfrm>
          <a:prstGeom prst="rect">
            <a:avLst/>
          </a:prstGeom>
        </p:spPr>
        <p:txBody>
          <a:bodyPr anchor="t" rtlCol="false" tIns="0" lIns="0" bIns="0" rIns="0">
            <a:spAutoFit/>
          </a:bodyPr>
          <a:lstStyle/>
          <a:p>
            <a:pPr algn="l">
              <a:lnSpc>
                <a:spcPts val="7680"/>
              </a:lnSpc>
            </a:pPr>
            <a:r>
              <a:rPr lang="en-US" sz="8000" spc="-656">
                <a:solidFill>
                  <a:srgbClr val="000000"/>
                </a:solidFill>
                <a:latin typeface="Times New Roman"/>
                <a:ea typeface="Times New Roman"/>
                <a:cs typeface="Times New Roman"/>
                <a:sym typeface="Times New Roman"/>
              </a:rPr>
              <a:t>02.</a:t>
            </a:r>
          </a:p>
        </p:txBody>
      </p:sp>
      <p:sp>
        <p:nvSpPr>
          <p:cNvPr name="TextBox 15" id="15"/>
          <p:cNvSpPr txBox="true"/>
          <p:nvPr/>
        </p:nvSpPr>
        <p:spPr>
          <a:xfrm rot="0">
            <a:off x="10491672" y="7382691"/>
            <a:ext cx="1578952" cy="1062998"/>
          </a:xfrm>
          <a:prstGeom prst="rect">
            <a:avLst/>
          </a:prstGeom>
        </p:spPr>
        <p:txBody>
          <a:bodyPr anchor="t" rtlCol="false" tIns="0" lIns="0" bIns="0" rIns="0">
            <a:spAutoFit/>
          </a:bodyPr>
          <a:lstStyle/>
          <a:p>
            <a:pPr algn="l">
              <a:lnSpc>
                <a:spcPts val="7680"/>
              </a:lnSpc>
            </a:pPr>
            <a:r>
              <a:rPr lang="en-US" sz="8000" spc="-656">
                <a:solidFill>
                  <a:srgbClr val="000000"/>
                </a:solidFill>
                <a:latin typeface="Times New Roman"/>
                <a:ea typeface="Times New Roman"/>
                <a:cs typeface="Times New Roman"/>
                <a:sym typeface="Times New Roman"/>
              </a:rPr>
              <a:t>03.</a:t>
            </a:r>
          </a:p>
        </p:txBody>
      </p:sp>
      <p:sp>
        <p:nvSpPr>
          <p:cNvPr name="TextBox 16" id="16"/>
          <p:cNvSpPr txBox="true"/>
          <p:nvPr/>
        </p:nvSpPr>
        <p:spPr>
          <a:xfrm rot="0">
            <a:off x="12070625" y="1619969"/>
            <a:ext cx="4259521" cy="1624012"/>
          </a:xfrm>
          <a:prstGeom prst="rect">
            <a:avLst/>
          </a:prstGeom>
        </p:spPr>
        <p:txBody>
          <a:bodyPr anchor="t" rtlCol="false" tIns="0" lIns="0" bIns="0" rIns="0">
            <a:spAutoFit/>
          </a:bodyPr>
          <a:lstStyle/>
          <a:p>
            <a:pPr algn="just" marL="0" indent="0" lvl="0">
              <a:lnSpc>
                <a:spcPts val="2699"/>
              </a:lnSpc>
              <a:spcBef>
                <a:spcPct val="0"/>
              </a:spcBef>
            </a:pPr>
            <a:r>
              <a:rPr lang="en-US" b="true" sz="1999" spc="31" u="none">
                <a:solidFill>
                  <a:srgbClr val="000000"/>
                </a:solidFill>
                <a:latin typeface="Times New Roman Bold"/>
                <a:ea typeface="Times New Roman Bold"/>
                <a:cs typeface="Times New Roman Bold"/>
                <a:sym typeface="Times New Roman Bold"/>
              </a:rPr>
              <a:t>Đặt vấn đề</a:t>
            </a:r>
          </a:p>
          <a:p>
            <a:pPr algn="just" marL="0" indent="0" lvl="0">
              <a:lnSpc>
                <a:spcPts val="2025"/>
              </a:lnSpc>
              <a:spcBef>
                <a:spcPct val="0"/>
              </a:spcBef>
            </a:pPr>
            <a:r>
              <a:rPr lang="en-US" sz="1500" spc="24" u="none">
                <a:solidFill>
                  <a:srgbClr val="000000"/>
                </a:solidFill>
                <a:latin typeface="Times New Roman"/>
                <a:ea typeface="Times New Roman"/>
                <a:cs typeface="Times New Roman"/>
                <a:sym typeface="Times New Roman"/>
              </a:rPr>
              <a:t>Cửa hàng kinh doanh Tivi cần một hệ thống quản lý hiệu quả để theo dõi sản phẩm, khách hàng, nhân viên và tồn kho. Ứng dụng được xây dựng nhằm giảm thiểu sai sót và tăng năng suất quản lý.</a:t>
            </a:r>
          </a:p>
          <a:p>
            <a:pPr algn="just" marL="0" indent="0" lvl="0">
              <a:lnSpc>
                <a:spcPts val="2025"/>
              </a:lnSpc>
              <a:spcBef>
                <a:spcPct val="0"/>
              </a:spcBef>
            </a:pPr>
          </a:p>
        </p:txBody>
      </p:sp>
      <p:sp>
        <p:nvSpPr>
          <p:cNvPr name="TextBox 17" id="17"/>
          <p:cNvSpPr txBox="true"/>
          <p:nvPr/>
        </p:nvSpPr>
        <p:spPr>
          <a:xfrm rot="0">
            <a:off x="11943231" y="3904513"/>
            <a:ext cx="4514309" cy="2652712"/>
          </a:xfrm>
          <a:prstGeom prst="rect">
            <a:avLst/>
          </a:prstGeom>
        </p:spPr>
        <p:txBody>
          <a:bodyPr anchor="t" rtlCol="false" tIns="0" lIns="0" bIns="0" rIns="0">
            <a:spAutoFit/>
          </a:bodyPr>
          <a:lstStyle/>
          <a:p>
            <a:pPr algn="just" marL="0" indent="0" lvl="0">
              <a:lnSpc>
                <a:spcPts val="2699"/>
              </a:lnSpc>
              <a:spcBef>
                <a:spcPct val="0"/>
              </a:spcBef>
            </a:pPr>
            <a:r>
              <a:rPr lang="en-US" b="true" sz="1999" spc="31" u="none">
                <a:solidFill>
                  <a:srgbClr val="000000"/>
                </a:solidFill>
                <a:latin typeface="Times New Roman Bold"/>
                <a:ea typeface="Times New Roman Bold"/>
                <a:cs typeface="Times New Roman Bold"/>
                <a:sym typeface="Times New Roman Bold"/>
              </a:rPr>
              <a:t>Mục tiêu đề tài</a:t>
            </a:r>
          </a:p>
          <a:p>
            <a:pPr algn="just" marL="0" indent="0" lvl="0">
              <a:lnSpc>
                <a:spcPts val="2025"/>
              </a:lnSpc>
              <a:spcBef>
                <a:spcPct val="0"/>
              </a:spcBef>
            </a:pPr>
            <a:r>
              <a:rPr lang="en-US" sz="1500" spc="24" u="none">
                <a:solidFill>
                  <a:srgbClr val="000000"/>
                </a:solidFill>
                <a:latin typeface="Times New Roman"/>
                <a:ea typeface="Times New Roman"/>
                <a:cs typeface="Times New Roman"/>
                <a:sym typeface="Times New Roman"/>
              </a:rPr>
              <a:t>- Phân tích và xây dựng một ứng dụng trong lập trình chương trình quản lý cửa hàng tivi. </a:t>
            </a:r>
          </a:p>
          <a:p>
            <a:pPr algn="just" marL="0" indent="0" lvl="0">
              <a:lnSpc>
                <a:spcPts val="2025"/>
              </a:lnSpc>
              <a:spcBef>
                <a:spcPct val="0"/>
              </a:spcBef>
            </a:pPr>
            <a:r>
              <a:rPr lang="en-US" sz="1500" spc="24" u="none">
                <a:solidFill>
                  <a:srgbClr val="000000"/>
                </a:solidFill>
                <a:latin typeface="Times New Roman"/>
                <a:ea typeface="Times New Roman"/>
                <a:cs typeface="Times New Roman"/>
                <a:sym typeface="Times New Roman"/>
              </a:rPr>
              <a:t>- Vận dụng kỹ thuật lập trình ứng dụng trên Windows để giải quyết một vấn đề trong việc quản lý cửa hang bán tivi một cách thuận tiện, tổng quát và tối ưu cho việc kinh doanh. </a:t>
            </a:r>
          </a:p>
          <a:p>
            <a:pPr algn="just" marL="0" indent="0" lvl="0">
              <a:lnSpc>
                <a:spcPts val="2025"/>
              </a:lnSpc>
              <a:spcBef>
                <a:spcPct val="0"/>
              </a:spcBef>
            </a:pPr>
            <a:r>
              <a:rPr lang="en-US" sz="1500" spc="24" u="none">
                <a:solidFill>
                  <a:srgbClr val="000000"/>
                </a:solidFill>
                <a:latin typeface="Times New Roman"/>
                <a:ea typeface="Times New Roman"/>
                <a:cs typeface="Times New Roman"/>
                <a:sym typeface="Times New Roman"/>
              </a:rPr>
              <a:t>- Tổ chức làm việc nhóm để thảo luận và giải quyết các vấn đề liên quan đến lập trình ứng dụng trên Windows </a:t>
            </a:r>
          </a:p>
          <a:p>
            <a:pPr algn="just" marL="0" indent="0" lvl="0">
              <a:lnSpc>
                <a:spcPts val="2025"/>
              </a:lnSpc>
              <a:spcBef>
                <a:spcPct val="0"/>
              </a:spcBef>
            </a:pPr>
          </a:p>
        </p:txBody>
      </p:sp>
      <p:sp>
        <p:nvSpPr>
          <p:cNvPr name="TextBox 18" id="18"/>
          <p:cNvSpPr txBox="true"/>
          <p:nvPr/>
        </p:nvSpPr>
        <p:spPr>
          <a:xfrm rot="0">
            <a:off x="12070625" y="7428414"/>
            <a:ext cx="4132127" cy="852487"/>
          </a:xfrm>
          <a:prstGeom prst="rect">
            <a:avLst/>
          </a:prstGeom>
        </p:spPr>
        <p:txBody>
          <a:bodyPr anchor="t" rtlCol="false" tIns="0" lIns="0" bIns="0" rIns="0">
            <a:spAutoFit/>
          </a:bodyPr>
          <a:lstStyle/>
          <a:p>
            <a:pPr algn="just" marL="0" indent="0" lvl="0">
              <a:lnSpc>
                <a:spcPts val="2699"/>
              </a:lnSpc>
              <a:spcBef>
                <a:spcPct val="0"/>
              </a:spcBef>
            </a:pPr>
            <a:r>
              <a:rPr lang="en-US" b="true" sz="1999" spc="31" u="none">
                <a:solidFill>
                  <a:srgbClr val="000000"/>
                </a:solidFill>
                <a:latin typeface="Times New Roman Bold"/>
                <a:ea typeface="Times New Roman Bold"/>
                <a:cs typeface="Times New Roman Bold"/>
                <a:sym typeface="Times New Roman Bold"/>
              </a:rPr>
              <a:t>Công cụ sử dụng</a:t>
            </a:r>
          </a:p>
          <a:p>
            <a:pPr algn="just" marL="0" indent="0" lvl="0">
              <a:lnSpc>
                <a:spcPts val="2025"/>
              </a:lnSpc>
              <a:spcBef>
                <a:spcPct val="0"/>
              </a:spcBef>
            </a:pPr>
            <a:r>
              <a:rPr lang="en-US" sz="1500" spc="24" u="none">
                <a:solidFill>
                  <a:srgbClr val="000000"/>
                </a:solidFill>
                <a:latin typeface="Times New Roman"/>
                <a:ea typeface="Times New Roman"/>
                <a:cs typeface="Times New Roman"/>
                <a:sym typeface="Times New Roman"/>
              </a:rPr>
              <a:t>- Dotnet</a:t>
            </a:r>
          </a:p>
          <a:p>
            <a:pPr algn="just" marL="0" indent="0" lvl="0">
              <a:lnSpc>
                <a:spcPts val="2025"/>
              </a:lnSpc>
              <a:spcBef>
                <a:spcPct val="0"/>
              </a:spcBef>
            </a:pPr>
            <a:r>
              <a:rPr lang="en-US" sz="1500" spc="24" u="none">
                <a:solidFill>
                  <a:srgbClr val="000000"/>
                </a:solidFill>
                <a:latin typeface="Times New Roman"/>
                <a:ea typeface="Times New Roman"/>
                <a:cs typeface="Times New Roman"/>
                <a:sym typeface="Times New Roman"/>
              </a:rPr>
              <a:t>-  SQL server management studio 21</a:t>
            </a:r>
          </a:p>
        </p:txBody>
      </p:sp>
      <p:sp>
        <p:nvSpPr>
          <p:cNvPr name="Freeform 19" id="19"/>
          <p:cNvSpPr/>
          <p:nvPr/>
        </p:nvSpPr>
        <p:spPr>
          <a:xfrm flipH="false" flipV="false" rot="0">
            <a:off x="-848571" y="8919661"/>
            <a:ext cx="3870946" cy="950141"/>
          </a:xfrm>
          <a:custGeom>
            <a:avLst/>
            <a:gdLst/>
            <a:ahLst/>
            <a:cxnLst/>
            <a:rect r="r" b="b" t="t" l="l"/>
            <a:pathLst>
              <a:path h="950141" w="3870946">
                <a:moveTo>
                  <a:pt x="0" y="0"/>
                </a:moveTo>
                <a:lnTo>
                  <a:pt x="3870946" y="0"/>
                </a:lnTo>
                <a:lnTo>
                  <a:pt x="3870946" y="950141"/>
                </a:lnTo>
                <a:lnTo>
                  <a:pt x="0" y="9501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4472906" y="-2364815"/>
            <a:ext cx="4980952" cy="3731186"/>
          </a:xfrm>
          <a:custGeom>
            <a:avLst/>
            <a:gdLst/>
            <a:ahLst/>
            <a:cxnLst/>
            <a:rect r="r" b="b" t="t" l="l"/>
            <a:pathLst>
              <a:path h="3731186" w="4980952">
                <a:moveTo>
                  <a:pt x="0" y="0"/>
                </a:moveTo>
                <a:lnTo>
                  <a:pt x="4980951" y="0"/>
                </a:lnTo>
                <a:lnTo>
                  <a:pt x="4980951" y="3731186"/>
                </a:lnTo>
                <a:lnTo>
                  <a:pt x="0" y="37311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21" id="21"/>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22" id="22"/>
          <p:cNvSpPr/>
          <p:nvPr/>
        </p:nvSpPr>
        <p:spPr>
          <a:xfrm flipH="false" flipV="false" rot="0">
            <a:off x="-848571" y="-744412"/>
            <a:ext cx="2597326" cy="2796583"/>
          </a:xfrm>
          <a:custGeom>
            <a:avLst/>
            <a:gdLst/>
            <a:ahLst/>
            <a:cxnLst/>
            <a:rect r="r" b="b" t="t" l="l"/>
            <a:pathLst>
              <a:path h="2796583" w="2597326">
                <a:moveTo>
                  <a:pt x="0" y="0"/>
                </a:moveTo>
                <a:lnTo>
                  <a:pt x="2597327" y="0"/>
                </a:lnTo>
                <a:lnTo>
                  <a:pt x="2597327" y="2796583"/>
                </a:lnTo>
                <a:lnTo>
                  <a:pt x="0" y="27965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10078075" y="1267971"/>
            <a:ext cx="4208573" cy="4247184"/>
          </a:xfrm>
          <a:custGeom>
            <a:avLst/>
            <a:gdLst/>
            <a:ahLst/>
            <a:cxnLst/>
            <a:rect r="r" b="b" t="t" l="l"/>
            <a:pathLst>
              <a:path h="4247184" w="4208573">
                <a:moveTo>
                  <a:pt x="0" y="0"/>
                </a:moveTo>
                <a:lnTo>
                  <a:pt x="4208574" y="0"/>
                </a:lnTo>
                <a:lnTo>
                  <a:pt x="4208574" y="4247184"/>
                </a:lnTo>
                <a:lnTo>
                  <a:pt x="0" y="42471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10857087" y="1879538"/>
            <a:ext cx="5956731" cy="6527925"/>
          </a:xfrm>
          <a:custGeom>
            <a:avLst/>
            <a:gdLst/>
            <a:ahLst/>
            <a:cxnLst/>
            <a:rect r="r" b="b" t="t" l="l"/>
            <a:pathLst>
              <a:path h="6527925" w="5956731">
                <a:moveTo>
                  <a:pt x="0" y="0"/>
                </a:moveTo>
                <a:lnTo>
                  <a:pt x="5956731" y="0"/>
                </a:lnTo>
                <a:lnTo>
                  <a:pt x="5956731" y="6527924"/>
                </a:lnTo>
                <a:lnTo>
                  <a:pt x="0" y="65279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504950" y="895258"/>
            <a:ext cx="8092094" cy="3425190"/>
          </a:xfrm>
          <a:prstGeom prst="rect">
            <a:avLst/>
          </a:prstGeom>
        </p:spPr>
        <p:txBody>
          <a:bodyPr anchor="t" rtlCol="false" tIns="0" lIns="0" bIns="0" rIns="0">
            <a:spAutoFit/>
          </a:bodyPr>
          <a:lstStyle/>
          <a:p>
            <a:pPr algn="ctr">
              <a:lnSpc>
                <a:spcPts val="8730"/>
              </a:lnSpc>
            </a:pPr>
            <a:r>
              <a:rPr lang="en-US" b="true" sz="9000">
                <a:solidFill>
                  <a:srgbClr val="000000"/>
                </a:solidFill>
                <a:latin typeface="Times New Roman Bold"/>
                <a:ea typeface="Times New Roman Bold"/>
                <a:cs typeface="Times New Roman Bold"/>
                <a:sym typeface="Times New Roman Bold"/>
              </a:rPr>
              <a:t>II. Phân tích thiết kế hệ thống </a:t>
            </a:r>
          </a:p>
        </p:txBody>
      </p:sp>
      <p:sp>
        <p:nvSpPr>
          <p:cNvPr name="TextBox 5" id="5"/>
          <p:cNvSpPr txBox="true"/>
          <p:nvPr/>
        </p:nvSpPr>
        <p:spPr>
          <a:xfrm rot="0">
            <a:off x="1504950" y="4798032"/>
            <a:ext cx="7707571" cy="5269230"/>
          </a:xfrm>
          <a:prstGeom prst="rect">
            <a:avLst/>
          </a:prstGeom>
        </p:spPr>
        <p:txBody>
          <a:bodyPr anchor="t" rtlCol="false" tIns="0" lIns="0" bIns="0" rIns="0">
            <a:spAutoFit/>
          </a:bodyPr>
          <a:lstStyle/>
          <a:p>
            <a:pPr algn="l" marL="0" indent="0" lvl="0">
              <a:lnSpc>
                <a:spcPts val="2699"/>
              </a:lnSpc>
              <a:spcBef>
                <a:spcPct val="0"/>
              </a:spcBef>
            </a:pPr>
            <a:r>
              <a:rPr lang="en-US" b="true" sz="1999" spc="119">
                <a:solidFill>
                  <a:srgbClr val="000000"/>
                </a:solidFill>
                <a:latin typeface="Times New Roman Bold"/>
                <a:ea typeface="Times New Roman Bold"/>
                <a:cs typeface="Times New Roman Bold"/>
                <a:sym typeface="Times New Roman Bold"/>
              </a:rPr>
              <a:t>Cơ</a:t>
            </a:r>
            <a:r>
              <a:rPr lang="en-US" b="true" sz="1999" spc="119" u="none">
                <a:solidFill>
                  <a:srgbClr val="000000"/>
                </a:solidFill>
                <a:latin typeface="Times New Roman Bold"/>
                <a:ea typeface="Times New Roman Bold"/>
                <a:cs typeface="Times New Roman Bold"/>
                <a:sym typeface="Times New Roman Bold"/>
              </a:rPr>
              <a:t> sở dữ liệu được thiết kế với 6 bảng chính, liên kết với nhau qua các khóa ngoại (Foreign Key) để đảm bảo tính toàn vẹn dữ liệu:</a:t>
            </a:r>
          </a:p>
          <a:p>
            <a:pPr algn="l" marL="0" indent="0" lvl="0">
              <a:lnSpc>
                <a:spcPts val="2430"/>
              </a:lnSpc>
              <a:spcBef>
                <a:spcPct val="0"/>
              </a:spcBef>
            </a:pPr>
            <a:r>
              <a:rPr lang="en-US" sz="1800" spc="107" u="none">
                <a:solidFill>
                  <a:srgbClr val="000000"/>
                </a:solidFill>
                <a:latin typeface="Times New Roman"/>
                <a:ea typeface="Times New Roman"/>
                <a:cs typeface="Times New Roman"/>
                <a:sym typeface="Times New Roman"/>
              </a:rPr>
              <a:t>-  FormNhanVien: Lưu thông tin nhân viên (Mã, Họ tên, Chức vụ, Lương).</a:t>
            </a:r>
          </a:p>
          <a:p>
            <a:pPr algn="l" marL="0" indent="0" lvl="0">
              <a:lnSpc>
                <a:spcPts val="2430"/>
              </a:lnSpc>
              <a:spcBef>
                <a:spcPct val="0"/>
              </a:spcBef>
            </a:pPr>
            <a:r>
              <a:rPr lang="en-US" sz="1800" spc="107" u="none">
                <a:solidFill>
                  <a:srgbClr val="000000"/>
                </a:solidFill>
                <a:latin typeface="Times New Roman"/>
                <a:ea typeface="Times New Roman"/>
                <a:cs typeface="Times New Roman"/>
                <a:sym typeface="Times New Roman"/>
              </a:rPr>
              <a:t>-  FormKhachHang: Lưu thông tin khách hàng (Mã, Họ tên, Địa chỉ, Số điện thoại).</a:t>
            </a:r>
          </a:p>
          <a:p>
            <a:pPr algn="l" marL="0" indent="0" lvl="0">
              <a:lnSpc>
                <a:spcPts val="2430"/>
              </a:lnSpc>
              <a:spcBef>
                <a:spcPct val="0"/>
              </a:spcBef>
            </a:pPr>
            <a:r>
              <a:rPr lang="en-US" sz="1800" spc="107" u="none">
                <a:solidFill>
                  <a:srgbClr val="000000"/>
                </a:solidFill>
                <a:latin typeface="Times New Roman"/>
                <a:ea typeface="Times New Roman"/>
                <a:cs typeface="Times New Roman"/>
                <a:sym typeface="Times New Roman"/>
              </a:rPr>
              <a:t>-  FormQuanLyTV: Lưu thông tin chi tiết về các loại TV (Mã TV, Tên TV, Kích thước, Hãng sản xuất, Số lượng, Giá, Bảo hành).</a:t>
            </a:r>
          </a:p>
          <a:p>
            <a:pPr algn="l" marL="0" indent="0" lvl="0">
              <a:lnSpc>
                <a:spcPts val="2430"/>
              </a:lnSpc>
              <a:spcBef>
                <a:spcPct val="0"/>
              </a:spcBef>
            </a:pPr>
            <a:r>
              <a:rPr lang="en-US" sz="1800" spc="107" u="none">
                <a:solidFill>
                  <a:srgbClr val="000000"/>
                </a:solidFill>
                <a:latin typeface="Times New Roman"/>
                <a:ea typeface="Times New Roman"/>
                <a:cs typeface="Times New Roman"/>
                <a:sym typeface="Times New Roman"/>
              </a:rPr>
              <a:t>-  FormTonKho: Theo dõi số lượng tồn kho của từng loại TV theo ngày cập nhật (Liên kết với FormQuanLyTV).</a:t>
            </a:r>
          </a:p>
          <a:p>
            <a:pPr algn="l" marL="0" indent="0" lvl="0">
              <a:lnSpc>
                <a:spcPts val="2430"/>
              </a:lnSpc>
              <a:spcBef>
                <a:spcPct val="0"/>
              </a:spcBef>
            </a:pPr>
            <a:r>
              <a:rPr lang="en-US" sz="1800" spc="107" u="none">
                <a:solidFill>
                  <a:srgbClr val="000000"/>
                </a:solidFill>
                <a:latin typeface="Times New Roman"/>
                <a:ea typeface="Times New Roman"/>
                <a:cs typeface="Times New Roman"/>
                <a:sym typeface="Times New Roman"/>
              </a:rPr>
              <a:t>-  FormHoaDon: Lưu thông tin hóa đơn (Mã HĐ, Ngày lập, Tổng tiền), liên kết với Nhân viên và Khách hàng thực hiện giao dịch.</a:t>
            </a:r>
          </a:p>
          <a:p>
            <a:pPr algn="l" marL="0" indent="0" lvl="0">
              <a:lnSpc>
                <a:spcPts val="2430"/>
              </a:lnSpc>
              <a:spcBef>
                <a:spcPct val="0"/>
              </a:spcBef>
            </a:pPr>
            <a:r>
              <a:rPr lang="en-US" sz="1800" spc="107" u="none">
                <a:solidFill>
                  <a:srgbClr val="000000"/>
                </a:solidFill>
                <a:latin typeface="Times New Roman"/>
                <a:ea typeface="Times New Roman"/>
                <a:cs typeface="Times New Roman"/>
                <a:sym typeface="Times New Roman"/>
              </a:rPr>
              <a:t>-  FormChiTietHoaDon: Lưu thông tin các mặt hàng TV được bán trong từng hóa đơn (Mã HĐ, Mã TV, Số lượng mua, Đơn giá), liên kết với Hóa đơn và Thông tin TV.</a:t>
            </a:r>
          </a:p>
          <a:p>
            <a:pPr algn="l" marL="0" indent="0" lvl="0">
              <a:lnSpc>
                <a:spcPts val="2430"/>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AutoShape 2" id="2"/>
          <p:cNvSpPr/>
          <p:nvPr/>
        </p:nvSpPr>
        <p:spPr>
          <a:xfrm>
            <a:off x="-886757" y="5074942"/>
            <a:ext cx="20061513" cy="0"/>
          </a:xfrm>
          <a:prstGeom prst="line">
            <a:avLst/>
          </a:prstGeom>
          <a:ln cap="flat" w="28575">
            <a:solidFill>
              <a:srgbClr val="000000"/>
            </a:solidFill>
            <a:prstDash val="solid"/>
            <a:headEnd type="none" len="sm" w="sm"/>
            <a:tailEnd type="none" len="sm" w="sm"/>
          </a:ln>
        </p:spPr>
      </p:sp>
      <p:grpSp>
        <p:nvGrpSpPr>
          <p:cNvPr name="Group 3" id="3"/>
          <p:cNvGrpSpPr/>
          <p:nvPr/>
        </p:nvGrpSpPr>
        <p:grpSpPr>
          <a:xfrm rot="0">
            <a:off x="2227066" y="4823914"/>
            <a:ext cx="502056" cy="50205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name="TextBox 5" id="5"/>
            <p:cNvSpPr txBox="true"/>
            <p:nvPr/>
          </p:nvSpPr>
          <p:spPr>
            <a:xfrm>
              <a:off x="190500" y="209550"/>
              <a:ext cx="431800" cy="412750"/>
            </a:xfrm>
            <a:prstGeom prst="rect">
              <a:avLst/>
            </a:prstGeom>
          </p:spPr>
          <p:txBody>
            <a:bodyPr anchor="ctr" rtlCol="false" tIns="50800" lIns="50800" bIns="50800" rIns="50800"/>
            <a:lstStyle/>
            <a:p>
              <a:pPr algn="ctr">
                <a:lnSpc>
                  <a:spcPts val="2266"/>
                </a:lnSpc>
              </a:pPr>
            </a:p>
          </p:txBody>
        </p:sp>
      </p:grpSp>
      <p:grpSp>
        <p:nvGrpSpPr>
          <p:cNvPr name="Group 6" id="6"/>
          <p:cNvGrpSpPr/>
          <p:nvPr/>
        </p:nvGrpSpPr>
        <p:grpSpPr>
          <a:xfrm rot="0">
            <a:off x="13396139" y="4823914"/>
            <a:ext cx="502056" cy="50205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8" id="8"/>
            <p:cNvSpPr txBox="true"/>
            <p:nvPr/>
          </p:nvSpPr>
          <p:spPr>
            <a:xfrm>
              <a:off x="190500" y="209550"/>
              <a:ext cx="431800" cy="412750"/>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9" id="9"/>
          <p:cNvSpPr txBox="true"/>
          <p:nvPr/>
        </p:nvSpPr>
        <p:spPr>
          <a:xfrm rot="0">
            <a:off x="1438078" y="1798781"/>
            <a:ext cx="15086018" cy="2320283"/>
          </a:xfrm>
          <a:prstGeom prst="rect">
            <a:avLst/>
          </a:prstGeom>
        </p:spPr>
        <p:txBody>
          <a:bodyPr anchor="t" rtlCol="false" tIns="0" lIns="0" bIns="0" rIns="0">
            <a:spAutoFit/>
          </a:bodyPr>
          <a:lstStyle/>
          <a:p>
            <a:pPr algn="ctr">
              <a:lnSpc>
                <a:spcPts val="8729"/>
              </a:lnSpc>
            </a:pPr>
            <a:r>
              <a:rPr lang="en-US" sz="8999" b="true">
                <a:solidFill>
                  <a:srgbClr val="000000"/>
                </a:solidFill>
                <a:latin typeface="Times New Roman Bold"/>
                <a:ea typeface="Times New Roman Bold"/>
                <a:cs typeface="Times New Roman Bold"/>
                <a:sym typeface="Times New Roman Bold"/>
              </a:rPr>
              <a:t>III. Giao diện chương trình </a:t>
            </a:r>
          </a:p>
          <a:p>
            <a:pPr algn="ctr" marL="0" indent="0" lvl="1">
              <a:lnSpc>
                <a:spcPts val="8729"/>
              </a:lnSpc>
              <a:spcBef>
                <a:spcPct val="0"/>
              </a:spcBef>
            </a:pPr>
          </a:p>
        </p:txBody>
      </p:sp>
      <p:sp>
        <p:nvSpPr>
          <p:cNvPr name="TextBox 10" id="10"/>
          <p:cNvSpPr txBox="true"/>
          <p:nvPr/>
        </p:nvSpPr>
        <p:spPr>
          <a:xfrm rot="0">
            <a:off x="2227066" y="5587466"/>
            <a:ext cx="2197323" cy="708026"/>
          </a:xfrm>
          <a:prstGeom prst="rect">
            <a:avLst/>
          </a:prstGeom>
        </p:spPr>
        <p:txBody>
          <a:bodyPr anchor="t" rtlCol="false" tIns="0" lIns="0" bIns="0" rIns="0">
            <a:spAutoFit/>
          </a:bodyPr>
          <a:lstStyle/>
          <a:p>
            <a:pPr algn="l">
              <a:lnSpc>
                <a:spcPts val="5150"/>
              </a:lnSpc>
            </a:pPr>
            <a:r>
              <a:rPr lang="en-US" sz="5000" b="true">
                <a:solidFill>
                  <a:srgbClr val="000000"/>
                </a:solidFill>
                <a:latin typeface="Times New Roman Bold"/>
                <a:ea typeface="Times New Roman Bold"/>
                <a:cs typeface="Times New Roman Bold"/>
                <a:sym typeface="Times New Roman Bold"/>
              </a:rPr>
              <a:t>01</a:t>
            </a:r>
          </a:p>
        </p:txBody>
      </p:sp>
      <p:sp>
        <p:nvSpPr>
          <p:cNvPr name="TextBox 11" id="11"/>
          <p:cNvSpPr txBox="true"/>
          <p:nvPr/>
        </p:nvSpPr>
        <p:spPr>
          <a:xfrm rot="0">
            <a:off x="1154848" y="6532664"/>
            <a:ext cx="2646492" cy="2037589"/>
          </a:xfrm>
          <a:prstGeom prst="rect">
            <a:avLst/>
          </a:prstGeom>
        </p:spPr>
        <p:txBody>
          <a:bodyPr anchor="t" rtlCol="false" tIns="0" lIns="0" bIns="0" rIns="0">
            <a:spAutoFit/>
          </a:bodyPr>
          <a:lstStyle/>
          <a:p>
            <a:pPr algn="ctr">
              <a:lnSpc>
                <a:spcPts val="3275"/>
              </a:lnSpc>
            </a:pPr>
            <a:r>
              <a:rPr lang="en-US" sz="2099">
                <a:solidFill>
                  <a:srgbClr val="000000"/>
                </a:solidFill>
                <a:latin typeface="Times New Roman"/>
                <a:ea typeface="Times New Roman"/>
                <a:cs typeface="Times New Roman"/>
                <a:sym typeface="Times New Roman"/>
              </a:rPr>
              <a:t>Th</a:t>
            </a:r>
            <a:r>
              <a:rPr lang="en-US" sz="2099">
                <a:solidFill>
                  <a:srgbClr val="000000"/>
                </a:solidFill>
                <a:latin typeface="Times New Roman"/>
                <a:ea typeface="Times New Roman"/>
                <a:cs typeface="Times New Roman"/>
                <a:sym typeface="Times New Roman"/>
              </a:rPr>
              <a:t>iết kế giao diện</a:t>
            </a:r>
          </a:p>
          <a:p>
            <a:pPr algn="ctr">
              <a:lnSpc>
                <a:spcPts val="3275"/>
              </a:lnSpc>
            </a:pPr>
            <a:r>
              <a:rPr lang="en-US" sz="2099">
                <a:solidFill>
                  <a:srgbClr val="000000"/>
                </a:solidFill>
                <a:latin typeface="Times New Roman"/>
                <a:ea typeface="Times New Roman"/>
                <a:cs typeface="Times New Roman"/>
                <a:sym typeface="Times New Roman"/>
              </a:rPr>
              <a:t>Thêm các chức năng tiện ích như: Thêm, xóa, sửa,bỏ qua, lưu, Thoát</a:t>
            </a:r>
          </a:p>
          <a:p>
            <a:pPr algn="ctr">
              <a:lnSpc>
                <a:spcPts val="3275"/>
              </a:lnSpc>
            </a:pPr>
          </a:p>
        </p:txBody>
      </p:sp>
      <p:sp>
        <p:nvSpPr>
          <p:cNvPr name="TextBox 12" id="12"/>
          <p:cNvSpPr txBox="true"/>
          <p:nvPr/>
        </p:nvSpPr>
        <p:spPr>
          <a:xfrm rot="0">
            <a:off x="13414442" y="5587466"/>
            <a:ext cx="2197323" cy="708026"/>
          </a:xfrm>
          <a:prstGeom prst="rect">
            <a:avLst/>
          </a:prstGeom>
        </p:spPr>
        <p:txBody>
          <a:bodyPr anchor="t" rtlCol="false" tIns="0" lIns="0" bIns="0" rIns="0">
            <a:spAutoFit/>
          </a:bodyPr>
          <a:lstStyle/>
          <a:p>
            <a:pPr algn="l">
              <a:lnSpc>
                <a:spcPts val="5150"/>
              </a:lnSpc>
            </a:pPr>
            <a:r>
              <a:rPr lang="en-US" sz="5000" b="true">
                <a:solidFill>
                  <a:srgbClr val="000000"/>
                </a:solidFill>
                <a:latin typeface="Times New Roman Bold"/>
                <a:ea typeface="Times New Roman Bold"/>
                <a:cs typeface="Times New Roman Bold"/>
                <a:sym typeface="Times New Roman Bold"/>
              </a:rPr>
              <a:t>02</a:t>
            </a:r>
          </a:p>
        </p:txBody>
      </p:sp>
      <p:sp>
        <p:nvSpPr>
          <p:cNvPr name="TextBox 13" id="13"/>
          <p:cNvSpPr txBox="true"/>
          <p:nvPr/>
        </p:nvSpPr>
        <p:spPr>
          <a:xfrm rot="0">
            <a:off x="12500193" y="6536663"/>
            <a:ext cx="2646492" cy="1057657"/>
          </a:xfrm>
          <a:prstGeom prst="rect">
            <a:avLst/>
          </a:prstGeom>
        </p:spPr>
        <p:txBody>
          <a:bodyPr anchor="t" rtlCol="false" tIns="0" lIns="0" bIns="0" rIns="0">
            <a:spAutoFit/>
          </a:bodyPr>
          <a:lstStyle/>
          <a:p>
            <a:pPr algn="ctr">
              <a:lnSpc>
                <a:spcPts val="4211"/>
              </a:lnSpc>
            </a:pPr>
            <a:r>
              <a:rPr lang="en-US" sz="2699">
                <a:solidFill>
                  <a:srgbClr val="000000"/>
                </a:solidFill>
                <a:latin typeface="Times New Roman"/>
                <a:ea typeface="Times New Roman"/>
                <a:cs typeface="Times New Roman"/>
                <a:sym typeface="Times New Roman"/>
              </a:rPr>
              <a:t>Cách</a:t>
            </a:r>
            <a:r>
              <a:rPr lang="en-US" sz="2699">
                <a:solidFill>
                  <a:srgbClr val="000000"/>
                </a:solidFill>
                <a:latin typeface="Times New Roman"/>
                <a:ea typeface="Times New Roman"/>
                <a:cs typeface="Times New Roman"/>
                <a:sym typeface="Times New Roman"/>
              </a:rPr>
              <a:t> xây dựng chương trình</a:t>
            </a:r>
          </a:p>
        </p:txBody>
      </p:sp>
      <p:sp>
        <p:nvSpPr>
          <p:cNvPr name="Freeform 14" id="14"/>
          <p:cNvSpPr/>
          <p:nvPr/>
        </p:nvSpPr>
        <p:spPr>
          <a:xfrm flipH="false" flipV="false" rot="0">
            <a:off x="-1573240" y="8893298"/>
            <a:ext cx="4051334" cy="2765036"/>
          </a:xfrm>
          <a:custGeom>
            <a:avLst/>
            <a:gdLst/>
            <a:ahLst/>
            <a:cxnLst/>
            <a:rect r="r" b="b" t="t" l="l"/>
            <a:pathLst>
              <a:path h="2765036" w="4051334">
                <a:moveTo>
                  <a:pt x="0" y="0"/>
                </a:moveTo>
                <a:lnTo>
                  <a:pt x="4051334" y="0"/>
                </a:lnTo>
                <a:lnTo>
                  <a:pt x="4051334" y="2765036"/>
                </a:lnTo>
                <a:lnTo>
                  <a:pt x="0" y="27650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15262955" y="8864586"/>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6" id="16"/>
          <p:cNvSpPr/>
          <p:nvPr/>
        </p:nvSpPr>
        <p:spPr>
          <a:xfrm flipH="false" flipV="false" rot="0">
            <a:off x="-674156" y="-1322787"/>
            <a:ext cx="4224468" cy="2645573"/>
          </a:xfrm>
          <a:custGeom>
            <a:avLst/>
            <a:gdLst/>
            <a:ahLst/>
            <a:cxnLst/>
            <a:rect r="r" b="b" t="t" l="l"/>
            <a:pathLst>
              <a:path h="2645573" w="4224468">
                <a:moveTo>
                  <a:pt x="0" y="0"/>
                </a:moveTo>
                <a:lnTo>
                  <a:pt x="4224468" y="0"/>
                </a:lnTo>
                <a:lnTo>
                  <a:pt x="4224468" y="2645574"/>
                </a:lnTo>
                <a:lnTo>
                  <a:pt x="0" y="264557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7" id="17"/>
          <p:cNvSpPr/>
          <p:nvPr/>
        </p:nvSpPr>
        <p:spPr>
          <a:xfrm flipH="false" flipV="false" rot="0">
            <a:off x="11101574"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8" id="18"/>
          <p:cNvSpPr/>
          <p:nvPr/>
        </p:nvSpPr>
        <p:spPr>
          <a:xfrm flipH="false" flipV="false" rot="0">
            <a:off x="9653627" y="-3037933"/>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9" id="19"/>
          <p:cNvSpPr/>
          <p:nvPr/>
        </p:nvSpPr>
        <p:spPr>
          <a:xfrm flipH="false" flipV="false" rot="-5400000">
            <a:off x="4745771" y="-1877331"/>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20" id="20"/>
          <p:cNvSpPr/>
          <p:nvPr/>
        </p:nvSpPr>
        <p:spPr>
          <a:xfrm flipH="false" flipV="false" rot="0">
            <a:off x="2932282" y="9271808"/>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21" id="21"/>
          <p:cNvSpPr/>
          <p:nvPr/>
        </p:nvSpPr>
        <p:spPr>
          <a:xfrm flipH="false" flipV="false" rot="0">
            <a:off x="15262955" y="-1072630"/>
            <a:ext cx="1996345" cy="2149497"/>
          </a:xfrm>
          <a:custGeom>
            <a:avLst/>
            <a:gdLst/>
            <a:ahLst/>
            <a:cxnLst/>
            <a:rect r="r" b="b" t="t" l="l"/>
            <a:pathLst>
              <a:path h="2149497" w="1996345">
                <a:moveTo>
                  <a:pt x="0" y="0"/>
                </a:moveTo>
                <a:lnTo>
                  <a:pt x="1996345" y="0"/>
                </a:lnTo>
                <a:lnTo>
                  <a:pt x="1996345" y="2149497"/>
                </a:lnTo>
                <a:lnTo>
                  <a:pt x="0" y="214949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5282649">
            <a:off x="753178" y="3852356"/>
            <a:ext cx="7567145" cy="2582288"/>
          </a:xfrm>
          <a:custGeom>
            <a:avLst/>
            <a:gdLst/>
            <a:ahLst/>
            <a:cxnLst/>
            <a:rect r="r" b="b" t="t" l="l"/>
            <a:pathLst>
              <a:path h="2582288" w="7567145">
                <a:moveTo>
                  <a:pt x="0" y="0"/>
                </a:moveTo>
                <a:lnTo>
                  <a:pt x="7567144" y="0"/>
                </a:lnTo>
                <a:lnTo>
                  <a:pt x="7567144" y="2582288"/>
                </a:lnTo>
                <a:lnTo>
                  <a:pt x="0" y="25822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7433892" y="1990016"/>
            <a:ext cx="9503278" cy="4985256"/>
          </a:xfrm>
          <a:custGeom>
            <a:avLst/>
            <a:gdLst/>
            <a:ahLst/>
            <a:cxnLst/>
            <a:rect r="r" b="b" t="t" l="l"/>
            <a:pathLst>
              <a:path h="4985256" w="9503278">
                <a:moveTo>
                  <a:pt x="0" y="0"/>
                </a:moveTo>
                <a:lnTo>
                  <a:pt x="9503278" y="0"/>
                </a:lnTo>
                <a:lnTo>
                  <a:pt x="9503278" y="4985256"/>
                </a:lnTo>
                <a:lnTo>
                  <a:pt x="0" y="4985256"/>
                </a:lnTo>
                <a:lnTo>
                  <a:pt x="0" y="0"/>
                </a:lnTo>
                <a:close/>
              </a:path>
            </a:pathLst>
          </a:custGeom>
          <a:blipFill>
            <a:blip r:embed="rId4"/>
            <a:stretch>
              <a:fillRect l="0" t="0" r="0" b="-7346"/>
            </a:stretch>
          </a:blipFill>
        </p:spPr>
      </p:sp>
      <p:sp>
        <p:nvSpPr>
          <p:cNvPr name="TextBox 4" id="4"/>
          <p:cNvSpPr txBox="true"/>
          <p:nvPr/>
        </p:nvSpPr>
        <p:spPr>
          <a:xfrm rot="0">
            <a:off x="6334321" y="497205"/>
            <a:ext cx="11224693" cy="1215390"/>
          </a:xfrm>
          <a:prstGeom prst="rect">
            <a:avLst/>
          </a:prstGeom>
        </p:spPr>
        <p:txBody>
          <a:bodyPr anchor="t" rtlCol="false" tIns="0" lIns="0" bIns="0" rIns="0">
            <a:spAutoFit/>
          </a:bodyPr>
          <a:lstStyle/>
          <a:p>
            <a:pPr algn="ctr">
              <a:lnSpc>
                <a:spcPts val="8730"/>
              </a:lnSpc>
            </a:pPr>
            <a:r>
              <a:rPr lang="en-US" b="true" sz="9000">
                <a:solidFill>
                  <a:srgbClr val="000000"/>
                </a:solidFill>
                <a:latin typeface="Times New Roman Bold"/>
                <a:ea typeface="Times New Roman Bold"/>
                <a:cs typeface="Times New Roman Bold"/>
                <a:sym typeface="Times New Roman Bold"/>
              </a:rPr>
              <a:t>01/ Thiết kế giao diện </a:t>
            </a:r>
          </a:p>
        </p:txBody>
      </p:sp>
      <p:sp>
        <p:nvSpPr>
          <p:cNvPr name="TextBox 5" id="5"/>
          <p:cNvSpPr txBox="true"/>
          <p:nvPr/>
        </p:nvSpPr>
        <p:spPr>
          <a:xfrm rot="0">
            <a:off x="8331745" y="7473305"/>
            <a:ext cx="7707571" cy="666750"/>
          </a:xfrm>
          <a:prstGeom prst="rect">
            <a:avLst/>
          </a:prstGeom>
        </p:spPr>
        <p:txBody>
          <a:bodyPr anchor="t" rtlCol="false" tIns="0" lIns="0" bIns="0" rIns="0">
            <a:spAutoFit/>
          </a:bodyPr>
          <a:lstStyle/>
          <a:p>
            <a:pPr algn="ctr" marL="0" indent="0" lvl="0">
              <a:lnSpc>
                <a:spcPts val="2699"/>
              </a:lnSpc>
              <a:spcBef>
                <a:spcPct val="0"/>
              </a:spcBef>
            </a:pPr>
            <a:r>
              <a:rPr lang="en-US" sz="1999" spc="119">
                <a:solidFill>
                  <a:srgbClr val="000000"/>
                </a:solidFill>
                <a:latin typeface="Times New Roman"/>
                <a:ea typeface="Times New Roman"/>
                <a:cs typeface="Times New Roman"/>
                <a:sym typeface="Times New Roman"/>
              </a:rPr>
              <a:t>Ả</a:t>
            </a:r>
            <a:r>
              <a:rPr lang="en-US" sz="1999" spc="119" u="none">
                <a:solidFill>
                  <a:srgbClr val="000000"/>
                </a:solidFill>
                <a:latin typeface="Times New Roman"/>
                <a:ea typeface="Times New Roman"/>
                <a:cs typeface="Times New Roman"/>
                <a:sym typeface="Times New Roman"/>
              </a:rPr>
              <a:t>nh 1 : Giao diện của FormMain</a:t>
            </a:r>
          </a:p>
          <a:p>
            <a:pPr algn="ctr" marL="0" indent="0" lvl="0">
              <a:lnSpc>
                <a:spcPts val="269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5282649">
            <a:off x="753178" y="3852356"/>
            <a:ext cx="7567145" cy="2582288"/>
          </a:xfrm>
          <a:custGeom>
            <a:avLst/>
            <a:gdLst/>
            <a:ahLst/>
            <a:cxnLst/>
            <a:rect r="r" b="b" t="t" l="l"/>
            <a:pathLst>
              <a:path h="2582288" w="7567145">
                <a:moveTo>
                  <a:pt x="0" y="0"/>
                </a:moveTo>
                <a:lnTo>
                  <a:pt x="7567144" y="0"/>
                </a:lnTo>
                <a:lnTo>
                  <a:pt x="7567144" y="2582288"/>
                </a:lnTo>
                <a:lnTo>
                  <a:pt x="0" y="25822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7348293" y="2039751"/>
            <a:ext cx="9503278" cy="4969332"/>
          </a:xfrm>
          <a:custGeom>
            <a:avLst/>
            <a:gdLst/>
            <a:ahLst/>
            <a:cxnLst/>
            <a:rect r="r" b="b" t="t" l="l"/>
            <a:pathLst>
              <a:path h="4969332" w="9503278">
                <a:moveTo>
                  <a:pt x="0" y="0"/>
                </a:moveTo>
                <a:lnTo>
                  <a:pt x="9503278" y="0"/>
                </a:lnTo>
                <a:lnTo>
                  <a:pt x="9503278" y="4969332"/>
                </a:lnTo>
                <a:lnTo>
                  <a:pt x="0" y="4969332"/>
                </a:lnTo>
                <a:lnTo>
                  <a:pt x="0" y="0"/>
                </a:lnTo>
                <a:close/>
              </a:path>
            </a:pathLst>
          </a:custGeom>
          <a:blipFill>
            <a:blip r:embed="rId4"/>
            <a:stretch>
              <a:fillRect l="0" t="0" r="0" b="-7690"/>
            </a:stretch>
          </a:blipFill>
        </p:spPr>
      </p:sp>
      <p:sp>
        <p:nvSpPr>
          <p:cNvPr name="TextBox 4" id="4"/>
          <p:cNvSpPr txBox="true"/>
          <p:nvPr/>
        </p:nvSpPr>
        <p:spPr>
          <a:xfrm rot="0">
            <a:off x="6334321" y="497205"/>
            <a:ext cx="11224693" cy="1215390"/>
          </a:xfrm>
          <a:prstGeom prst="rect">
            <a:avLst/>
          </a:prstGeom>
        </p:spPr>
        <p:txBody>
          <a:bodyPr anchor="t" rtlCol="false" tIns="0" lIns="0" bIns="0" rIns="0">
            <a:spAutoFit/>
          </a:bodyPr>
          <a:lstStyle/>
          <a:p>
            <a:pPr algn="ctr">
              <a:lnSpc>
                <a:spcPts val="8730"/>
              </a:lnSpc>
            </a:pPr>
            <a:r>
              <a:rPr lang="en-US" b="true" sz="9000">
                <a:solidFill>
                  <a:srgbClr val="000000"/>
                </a:solidFill>
                <a:latin typeface="Times New Roman Bold"/>
                <a:ea typeface="Times New Roman Bold"/>
                <a:cs typeface="Times New Roman Bold"/>
                <a:sym typeface="Times New Roman Bold"/>
              </a:rPr>
              <a:t>01/ Thiết kế giao diện </a:t>
            </a:r>
          </a:p>
        </p:txBody>
      </p:sp>
      <p:sp>
        <p:nvSpPr>
          <p:cNvPr name="TextBox 5" id="5"/>
          <p:cNvSpPr txBox="true"/>
          <p:nvPr/>
        </p:nvSpPr>
        <p:spPr>
          <a:xfrm rot="0">
            <a:off x="8411366" y="7616624"/>
            <a:ext cx="7707571" cy="666750"/>
          </a:xfrm>
          <a:prstGeom prst="rect">
            <a:avLst/>
          </a:prstGeom>
        </p:spPr>
        <p:txBody>
          <a:bodyPr anchor="t" rtlCol="false" tIns="0" lIns="0" bIns="0" rIns="0">
            <a:spAutoFit/>
          </a:bodyPr>
          <a:lstStyle/>
          <a:p>
            <a:pPr algn="ctr" marL="0" indent="0" lvl="0">
              <a:lnSpc>
                <a:spcPts val="2699"/>
              </a:lnSpc>
              <a:spcBef>
                <a:spcPct val="0"/>
              </a:spcBef>
            </a:pPr>
            <a:r>
              <a:rPr lang="en-US" sz="1999" spc="119">
                <a:solidFill>
                  <a:srgbClr val="000000"/>
                </a:solidFill>
                <a:latin typeface="Times New Roman"/>
                <a:ea typeface="Times New Roman"/>
                <a:cs typeface="Times New Roman"/>
                <a:sym typeface="Times New Roman"/>
              </a:rPr>
              <a:t>Ả</a:t>
            </a:r>
            <a:r>
              <a:rPr lang="en-US" sz="1999" spc="119" u="none">
                <a:solidFill>
                  <a:srgbClr val="000000"/>
                </a:solidFill>
                <a:latin typeface="Times New Roman"/>
                <a:ea typeface="Times New Roman"/>
                <a:cs typeface="Times New Roman"/>
                <a:sym typeface="Times New Roman"/>
              </a:rPr>
              <a:t>nh 2 : Giao diện của FormTonKho</a:t>
            </a:r>
          </a:p>
          <a:p>
            <a:pPr algn="ctr" marL="0" indent="0" lvl="0">
              <a:lnSpc>
                <a:spcPts val="269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5282649">
            <a:off x="753178" y="3852356"/>
            <a:ext cx="7567145" cy="2582288"/>
          </a:xfrm>
          <a:custGeom>
            <a:avLst/>
            <a:gdLst/>
            <a:ahLst/>
            <a:cxnLst/>
            <a:rect r="r" b="b" t="t" l="l"/>
            <a:pathLst>
              <a:path h="2582288" w="7567145">
                <a:moveTo>
                  <a:pt x="0" y="0"/>
                </a:moveTo>
                <a:lnTo>
                  <a:pt x="7567144" y="0"/>
                </a:lnTo>
                <a:lnTo>
                  <a:pt x="7567144" y="2582288"/>
                </a:lnTo>
                <a:lnTo>
                  <a:pt x="0" y="25822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7348293" y="1830773"/>
            <a:ext cx="9503278" cy="4953408"/>
          </a:xfrm>
          <a:custGeom>
            <a:avLst/>
            <a:gdLst/>
            <a:ahLst/>
            <a:cxnLst/>
            <a:rect r="r" b="b" t="t" l="l"/>
            <a:pathLst>
              <a:path h="4953408" w="9503278">
                <a:moveTo>
                  <a:pt x="0" y="0"/>
                </a:moveTo>
                <a:lnTo>
                  <a:pt x="9503278" y="0"/>
                </a:lnTo>
                <a:lnTo>
                  <a:pt x="9503278" y="4953408"/>
                </a:lnTo>
                <a:lnTo>
                  <a:pt x="0" y="4953408"/>
                </a:lnTo>
                <a:lnTo>
                  <a:pt x="0" y="0"/>
                </a:lnTo>
                <a:close/>
              </a:path>
            </a:pathLst>
          </a:custGeom>
          <a:blipFill>
            <a:blip r:embed="rId4"/>
            <a:stretch>
              <a:fillRect l="0" t="0" r="0" b="-8037"/>
            </a:stretch>
          </a:blipFill>
        </p:spPr>
      </p:sp>
      <p:sp>
        <p:nvSpPr>
          <p:cNvPr name="TextBox 4" id="4"/>
          <p:cNvSpPr txBox="true"/>
          <p:nvPr/>
        </p:nvSpPr>
        <p:spPr>
          <a:xfrm rot="0">
            <a:off x="6334321" y="497205"/>
            <a:ext cx="11224693" cy="1215390"/>
          </a:xfrm>
          <a:prstGeom prst="rect">
            <a:avLst/>
          </a:prstGeom>
        </p:spPr>
        <p:txBody>
          <a:bodyPr anchor="t" rtlCol="false" tIns="0" lIns="0" bIns="0" rIns="0">
            <a:spAutoFit/>
          </a:bodyPr>
          <a:lstStyle/>
          <a:p>
            <a:pPr algn="ctr">
              <a:lnSpc>
                <a:spcPts val="8730"/>
              </a:lnSpc>
            </a:pPr>
            <a:r>
              <a:rPr lang="en-US" b="true" sz="9000">
                <a:solidFill>
                  <a:srgbClr val="000000"/>
                </a:solidFill>
                <a:latin typeface="Times New Roman Bold"/>
                <a:ea typeface="Times New Roman Bold"/>
                <a:cs typeface="Times New Roman Bold"/>
                <a:sym typeface="Times New Roman Bold"/>
              </a:rPr>
              <a:t>01/ Thiết kế giao diện </a:t>
            </a:r>
          </a:p>
        </p:txBody>
      </p:sp>
      <p:sp>
        <p:nvSpPr>
          <p:cNvPr name="TextBox 5" id="5"/>
          <p:cNvSpPr txBox="true"/>
          <p:nvPr/>
        </p:nvSpPr>
        <p:spPr>
          <a:xfrm rot="0">
            <a:off x="8411485" y="7584775"/>
            <a:ext cx="7707571" cy="666750"/>
          </a:xfrm>
          <a:prstGeom prst="rect">
            <a:avLst/>
          </a:prstGeom>
        </p:spPr>
        <p:txBody>
          <a:bodyPr anchor="t" rtlCol="false" tIns="0" lIns="0" bIns="0" rIns="0">
            <a:spAutoFit/>
          </a:bodyPr>
          <a:lstStyle/>
          <a:p>
            <a:pPr algn="ctr" marL="0" indent="0" lvl="0">
              <a:lnSpc>
                <a:spcPts val="2699"/>
              </a:lnSpc>
              <a:spcBef>
                <a:spcPct val="0"/>
              </a:spcBef>
            </a:pPr>
            <a:r>
              <a:rPr lang="en-US" sz="1999" spc="119">
                <a:solidFill>
                  <a:srgbClr val="000000"/>
                </a:solidFill>
                <a:latin typeface="Times New Roman"/>
                <a:ea typeface="Times New Roman"/>
                <a:cs typeface="Times New Roman"/>
                <a:sym typeface="Times New Roman"/>
              </a:rPr>
              <a:t>Ả</a:t>
            </a:r>
            <a:r>
              <a:rPr lang="en-US" sz="1999" spc="119" u="none">
                <a:solidFill>
                  <a:srgbClr val="000000"/>
                </a:solidFill>
                <a:latin typeface="Times New Roman"/>
                <a:ea typeface="Times New Roman"/>
                <a:cs typeface="Times New Roman"/>
                <a:sym typeface="Times New Roman"/>
              </a:rPr>
              <a:t>nh 3 : Giao diện của FormQuanLyTV</a:t>
            </a:r>
          </a:p>
          <a:p>
            <a:pPr algn="ctr" marL="0" indent="0" lvl="0">
              <a:lnSpc>
                <a:spcPts val="269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5282649">
            <a:off x="753178" y="3852356"/>
            <a:ext cx="7567145" cy="2582288"/>
          </a:xfrm>
          <a:custGeom>
            <a:avLst/>
            <a:gdLst/>
            <a:ahLst/>
            <a:cxnLst/>
            <a:rect r="r" b="b" t="t" l="l"/>
            <a:pathLst>
              <a:path h="2582288" w="7567145">
                <a:moveTo>
                  <a:pt x="0" y="0"/>
                </a:moveTo>
                <a:lnTo>
                  <a:pt x="7567144" y="0"/>
                </a:lnTo>
                <a:lnTo>
                  <a:pt x="7567144" y="2582288"/>
                </a:lnTo>
                <a:lnTo>
                  <a:pt x="0" y="25822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7348293" y="1944205"/>
            <a:ext cx="9503278" cy="4969332"/>
          </a:xfrm>
          <a:custGeom>
            <a:avLst/>
            <a:gdLst/>
            <a:ahLst/>
            <a:cxnLst/>
            <a:rect r="r" b="b" t="t" l="l"/>
            <a:pathLst>
              <a:path h="4969332" w="9503278">
                <a:moveTo>
                  <a:pt x="0" y="0"/>
                </a:moveTo>
                <a:lnTo>
                  <a:pt x="9503278" y="0"/>
                </a:lnTo>
                <a:lnTo>
                  <a:pt x="9503278" y="4969332"/>
                </a:lnTo>
                <a:lnTo>
                  <a:pt x="0" y="4969332"/>
                </a:lnTo>
                <a:lnTo>
                  <a:pt x="0" y="0"/>
                </a:lnTo>
                <a:close/>
              </a:path>
            </a:pathLst>
          </a:custGeom>
          <a:blipFill>
            <a:blip r:embed="rId4"/>
            <a:stretch>
              <a:fillRect l="0" t="0" r="0" b="-7690"/>
            </a:stretch>
          </a:blipFill>
        </p:spPr>
      </p:sp>
      <p:sp>
        <p:nvSpPr>
          <p:cNvPr name="TextBox 4" id="4"/>
          <p:cNvSpPr txBox="true"/>
          <p:nvPr/>
        </p:nvSpPr>
        <p:spPr>
          <a:xfrm rot="0">
            <a:off x="6315271" y="497205"/>
            <a:ext cx="11224693" cy="1215390"/>
          </a:xfrm>
          <a:prstGeom prst="rect">
            <a:avLst/>
          </a:prstGeom>
        </p:spPr>
        <p:txBody>
          <a:bodyPr anchor="t" rtlCol="false" tIns="0" lIns="0" bIns="0" rIns="0">
            <a:spAutoFit/>
          </a:bodyPr>
          <a:lstStyle/>
          <a:p>
            <a:pPr algn="ctr">
              <a:lnSpc>
                <a:spcPts val="8730"/>
              </a:lnSpc>
            </a:pPr>
            <a:r>
              <a:rPr lang="en-US" b="true" sz="9000">
                <a:solidFill>
                  <a:srgbClr val="000000"/>
                </a:solidFill>
                <a:latin typeface="Times New Roman Bold"/>
                <a:ea typeface="Times New Roman Bold"/>
                <a:cs typeface="Times New Roman Bold"/>
                <a:sym typeface="Times New Roman Bold"/>
              </a:rPr>
              <a:t>01/ Thiết kế giao diện </a:t>
            </a:r>
          </a:p>
        </p:txBody>
      </p:sp>
      <p:sp>
        <p:nvSpPr>
          <p:cNvPr name="TextBox 5" id="5"/>
          <p:cNvSpPr txBox="true"/>
          <p:nvPr/>
        </p:nvSpPr>
        <p:spPr>
          <a:xfrm rot="0">
            <a:off x="8246147" y="7632548"/>
            <a:ext cx="7707571" cy="666750"/>
          </a:xfrm>
          <a:prstGeom prst="rect">
            <a:avLst/>
          </a:prstGeom>
        </p:spPr>
        <p:txBody>
          <a:bodyPr anchor="t" rtlCol="false" tIns="0" lIns="0" bIns="0" rIns="0">
            <a:spAutoFit/>
          </a:bodyPr>
          <a:lstStyle/>
          <a:p>
            <a:pPr algn="ctr" marL="0" indent="0" lvl="0">
              <a:lnSpc>
                <a:spcPts val="2699"/>
              </a:lnSpc>
              <a:spcBef>
                <a:spcPct val="0"/>
              </a:spcBef>
            </a:pPr>
            <a:r>
              <a:rPr lang="en-US" sz="1999" spc="119">
                <a:solidFill>
                  <a:srgbClr val="000000"/>
                </a:solidFill>
                <a:latin typeface="Times New Roman"/>
                <a:ea typeface="Times New Roman"/>
                <a:cs typeface="Times New Roman"/>
                <a:sym typeface="Times New Roman"/>
              </a:rPr>
              <a:t>Ả</a:t>
            </a:r>
            <a:r>
              <a:rPr lang="en-US" sz="1999" spc="119" u="none">
                <a:solidFill>
                  <a:srgbClr val="000000"/>
                </a:solidFill>
                <a:latin typeface="Times New Roman"/>
                <a:ea typeface="Times New Roman"/>
                <a:cs typeface="Times New Roman"/>
                <a:sym typeface="Times New Roman"/>
              </a:rPr>
              <a:t>nh 4 : Giao diện của FormKhachHang</a:t>
            </a:r>
          </a:p>
          <a:p>
            <a:pPr algn="ctr" marL="0" indent="0" lvl="0">
              <a:lnSpc>
                <a:spcPts val="2699"/>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5282649">
            <a:off x="753178" y="3852356"/>
            <a:ext cx="7567145" cy="2582288"/>
          </a:xfrm>
          <a:custGeom>
            <a:avLst/>
            <a:gdLst/>
            <a:ahLst/>
            <a:cxnLst/>
            <a:rect r="r" b="b" t="t" l="l"/>
            <a:pathLst>
              <a:path h="2582288" w="7567145">
                <a:moveTo>
                  <a:pt x="0" y="0"/>
                </a:moveTo>
                <a:lnTo>
                  <a:pt x="7567144" y="0"/>
                </a:lnTo>
                <a:lnTo>
                  <a:pt x="7567144" y="2582288"/>
                </a:lnTo>
                <a:lnTo>
                  <a:pt x="0" y="25822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7348293" y="1960130"/>
            <a:ext cx="9503278" cy="4953408"/>
          </a:xfrm>
          <a:custGeom>
            <a:avLst/>
            <a:gdLst/>
            <a:ahLst/>
            <a:cxnLst/>
            <a:rect r="r" b="b" t="t" l="l"/>
            <a:pathLst>
              <a:path h="4953408" w="9503278">
                <a:moveTo>
                  <a:pt x="0" y="0"/>
                </a:moveTo>
                <a:lnTo>
                  <a:pt x="9503278" y="0"/>
                </a:lnTo>
                <a:lnTo>
                  <a:pt x="9503278" y="4953407"/>
                </a:lnTo>
                <a:lnTo>
                  <a:pt x="0" y="4953407"/>
                </a:lnTo>
                <a:lnTo>
                  <a:pt x="0" y="0"/>
                </a:lnTo>
                <a:close/>
              </a:path>
            </a:pathLst>
          </a:custGeom>
          <a:blipFill>
            <a:blip r:embed="rId4"/>
            <a:stretch>
              <a:fillRect l="0" t="0" r="0" b="-8037"/>
            </a:stretch>
          </a:blipFill>
        </p:spPr>
      </p:sp>
      <p:sp>
        <p:nvSpPr>
          <p:cNvPr name="TextBox 4" id="4"/>
          <p:cNvSpPr txBox="true"/>
          <p:nvPr/>
        </p:nvSpPr>
        <p:spPr>
          <a:xfrm rot="0">
            <a:off x="6324796" y="497205"/>
            <a:ext cx="11224693" cy="1215390"/>
          </a:xfrm>
          <a:prstGeom prst="rect">
            <a:avLst/>
          </a:prstGeom>
        </p:spPr>
        <p:txBody>
          <a:bodyPr anchor="t" rtlCol="false" tIns="0" lIns="0" bIns="0" rIns="0">
            <a:spAutoFit/>
          </a:bodyPr>
          <a:lstStyle/>
          <a:p>
            <a:pPr algn="ctr">
              <a:lnSpc>
                <a:spcPts val="8730"/>
              </a:lnSpc>
            </a:pPr>
            <a:r>
              <a:rPr lang="en-US" b="true" sz="9000">
                <a:solidFill>
                  <a:srgbClr val="000000"/>
                </a:solidFill>
                <a:latin typeface="Times New Roman Bold"/>
                <a:ea typeface="Times New Roman Bold"/>
                <a:cs typeface="Times New Roman Bold"/>
                <a:sym typeface="Times New Roman Bold"/>
              </a:rPr>
              <a:t>01/ Thiết kế giao diện </a:t>
            </a:r>
          </a:p>
        </p:txBody>
      </p:sp>
      <p:sp>
        <p:nvSpPr>
          <p:cNvPr name="TextBox 5" id="5"/>
          <p:cNvSpPr txBox="true"/>
          <p:nvPr/>
        </p:nvSpPr>
        <p:spPr>
          <a:xfrm rot="0">
            <a:off x="8083356" y="7568851"/>
            <a:ext cx="7707571" cy="666750"/>
          </a:xfrm>
          <a:prstGeom prst="rect">
            <a:avLst/>
          </a:prstGeom>
        </p:spPr>
        <p:txBody>
          <a:bodyPr anchor="t" rtlCol="false" tIns="0" lIns="0" bIns="0" rIns="0">
            <a:spAutoFit/>
          </a:bodyPr>
          <a:lstStyle/>
          <a:p>
            <a:pPr algn="ctr" marL="0" indent="0" lvl="0">
              <a:lnSpc>
                <a:spcPts val="2699"/>
              </a:lnSpc>
              <a:spcBef>
                <a:spcPct val="0"/>
              </a:spcBef>
            </a:pPr>
            <a:r>
              <a:rPr lang="en-US" sz="1999" spc="119">
                <a:solidFill>
                  <a:srgbClr val="000000"/>
                </a:solidFill>
                <a:latin typeface="Times New Roman"/>
                <a:ea typeface="Times New Roman"/>
                <a:cs typeface="Times New Roman"/>
                <a:sym typeface="Times New Roman"/>
              </a:rPr>
              <a:t>Ả</a:t>
            </a:r>
            <a:r>
              <a:rPr lang="en-US" sz="1999" spc="119" u="none">
                <a:solidFill>
                  <a:srgbClr val="000000"/>
                </a:solidFill>
                <a:latin typeface="Times New Roman"/>
                <a:ea typeface="Times New Roman"/>
                <a:cs typeface="Times New Roman"/>
                <a:sym typeface="Times New Roman"/>
              </a:rPr>
              <a:t>nh 5 : Giao diện của FormNhanVien</a:t>
            </a:r>
          </a:p>
          <a:p>
            <a:pPr algn="ctr" marL="0" indent="0" lvl="0">
              <a:lnSpc>
                <a:spcPts val="2699"/>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5282649">
            <a:off x="753178" y="3852356"/>
            <a:ext cx="7567145" cy="2582288"/>
          </a:xfrm>
          <a:custGeom>
            <a:avLst/>
            <a:gdLst/>
            <a:ahLst/>
            <a:cxnLst/>
            <a:rect r="r" b="b" t="t" l="l"/>
            <a:pathLst>
              <a:path h="2582288" w="7567145">
                <a:moveTo>
                  <a:pt x="0" y="0"/>
                </a:moveTo>
                <a:lnTo>
                  <a:pt x="7567144" y="0"/>
                </a:lnTo>
                <a:lnTo>
                  <a:pt x="7567144" y="2582288"/>
                </a:lnTo>
                <a:lnTo>
                  <a:pt x="0" y="25822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7348293" y="1878546"/>
            <a:ext cx="9503278" cy="4985256"/>
          </a:xfrm>
          <a:custGeom>
            <a:avLst/>
            <a:gdLst/>
            <a:ahLst/>
            <a:cxnLst/>
            <a:rect r="r" b="b" t="t" l="l"/>
            <a:pathLst>
              <a:path h="4985256" w="9503278">
                <a:moveTo>
                  <a:pt x="0" y="0"/>
                </a:moveTo>
                <a:lnTo>
                  <a:pt x="9503278" y="0"/>
                </a:lnTo>
                <a:lnTo>
                  <a:pt x="9503278" y="4985256"/>
                </a:lnTo>
                <a:lnTo>
                  <a:pt x="0" y="4985256"/>
                </a:lnTo>
                <a:lnTo>
                  <a:pt x="0" y="0"/>
                </a:lnTo>
                <a:close/>
              </a:path>
            </a:pathLst>
          </a:custGeom>
          <a:blipFill>
            <a:blip r:embed="rId4"/>
            <a:stretch>
              <a:fillRect l="0" t="0" r="0" b="-7346"/>
            </a:stretch>
          </a:blipFill>
        </p:spPr>
      </p:sp>
      <p:sp>
        <p:nvSpPr>
          <p:cNvPr name="TextBox 4" id="4"/>
          <p:cNvSpPr txBox="true"/>
          <p:nvPr/>
        </p:nvSpPr>
        <p:spPr>
          <a:xfrm rot="0">
            <a:off x="6334321" y="497205"/>
            <a:ext cx="11224693" cy="1215390"/>
          </a:xfrm>
          <a:prstGeom prst="rect">
            <a:avLst/>
          </a:prstGeom>
        </p:spPr>
        <p:txBody>
          <a:bodyPr anchor="t" rtlCol="false" tIns="0" lIns="0" bIns="0" rIns="0">
            <a:spAutoFit/>
          </a:bodyPr>
          <a:lstStyle/>
          <a:p>
            <a:pPr algn="ctr">
              <a:lnSpc>
                <a:spcPts val="8730"/>
              </a:lnSpc>
            </a:pPr>
            <a:r>
              <a:rPr lang="en-US" b="true" sz="9000">
                <a:solidFill>
                  <a:srgbClr val="000000"/>
                </a:solidFill>
                <a:latin typeface="Times New Roman Bold"/>
                <a:ea typeface="Times New Roman Bold"/>
                <a:cs typeface="Times New Roman Bold"/>
                <a:sym typeface="Times New Roman Bold"/>
              </a:rPr>
              <a:t>01/ Thiết kế giao diện </a:t>
            </a:r>
          </a:p>
        </p:txBody>
      </p:sp>
      <p:sp>
        <p:nvSpPr>
          <p:cNvPr name="TextBox 5" id="5"/>
          <p:cNvSpPr txBox="true"/>
          <p:nvPr/>
        </p:nvSpPr>
        <p:spPr>
          <a:xfrm rot="0">
            <a:off x="8246147" y="7521078"/>
            <a:ext cx="7707571" cy="666750"/>
          </a:xfrm>
          <a:prstGeom prst="rect">
            <a:avLst/>
          </a:prstGeom>
        </p:spPr>
        <p:txBody>
          <a:bodyPr anchor="t" rtlCol="false" tIns="0" lIns="0" bIns="0" rIns="0">
            <a:spAutoFit/>
          </a:bodyPr>
          <a:lstStyle/>
          <a:p>
            <a:pPr algn="ctr" marL="0" indent="0" lvl="0">
              <a:lnSpc>
                <a:spcPts val="2699"/>
              </a:lnSpc>
              <a:spcBef>
                <a:spcPct val="0"/>
              </a:spcBef>
            </a:pPr>
            <a:r>
              <a:rPr lang="en-US" sz="1999" spc="119">
                <a:solidFill>
                  <a:srgbClr val="000000"/>
                </a:solidFill>
                <a:latin typeface="Times New Roman"/>
                <a:ea typeface="Times New Roman"/>
                <a:cs typeface="Times New Roman"/>
                <a:sym typeface="Times New Roman"/>
              </a:rPr>
              <a:t>Ả</a:t>
            </a:r>
            <a:r>
              <a:rPr lang="en-US" sz="1999" spc="119" u="none">
                <a:solidFill>
                  <a:srgbClr val="000000"/>
                </a:solidFill>
                <a:latin typeface="Times New Roman"/>
                <a:ea typeface="Times New Roman"/>
                <a:cs typeface="Times New Roman"/>
                <a:sym typeface="Times New Roman"/>
              </a:rPr>
              <a:t>nh 6 : Giao diện của FormHoaDon</a:t>
            </a:r>
          </a:p>
          <a:p>
            <a:pPr algn="ctr" marL="0" indent="0" lvl="0">
              <a:lnSpc>
                <a:spcPts val="269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5282649">
            <a:off x="753178" y="3852356"/>
            <a:ext cx="7567145" cy="2582288"/>
          </a:xfrm>
          <a:custGeom>
            <a:avLst/>
            <a:gdLst/>
            <a:ahLst/>
            <a:cxnLst/>
            <a:rect r="r" b="b" t="t" l="l"/>
            <a:pathLst>
              <a:path h="2582288" w="7567145">
                <a:moveTo>
                  <a:pt x="0" y="0"/>
                </a:moveTo>
                <a:lnTo>
                  <a:pt x="7567144" y="0"/>
                </a:lnTo>
                <a:lnTo>
                  <a:pt x="7567144" y="2582288"/>
                </a:lnTo>
                <a:lnTo>
                  <a:pt x="0" y="25822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7354270" y="1880508"/>
            <a:ext cx="9503278" cy="4969332"/>
          </a:xfrm>
          <a:custGeom>
            <a:avLst/>
            <a:gdLst/>
            <a:ahLst/>
            <a:cxnLst/>
            <a:rect r="r" b="b" t="t" l="l"/>
            <a:pathLst>
              <a:path h="4969332" w="9503278">
                <a:moveTo>
                  <a:pt x="0" y="0"/>
                </a:moveTo>
                <a:lnTo>
                  <a:pt x="9503279" y="0"/>
                </a:lnTo>
                <a:lnTo>
                  <a:pt x="9503279" y="4969332"/>
                </a:lnTo>
                <a:lnTo>
                  <a:pt x="0" y="4969332"/>
                </a:lnTo>
                <a:lnTo>
                  <a:pt x="0" y="0"/>
                </a:lnTo>
                <a:close/>
              </a:path>
            </a:pathLst>
          </a:custGeom>
          <a:blipFill>
            <a:blip r:embed="rId4"/>
            <a:stretch>
              <a:fillRect l="0" t="0" r="0" b="-7690"/>
            </a:stretch>
          </a:blipFill>
        </p:spPr>
      </p:sp>
      <p:sp>
        <p:nvSpPr>
          <p:cNvPr name="TextBox 4" id="4"/>
          <p:cNvSpPr txBox="true"/>
          <p:nvPr/>
        </p:nvSpPr>
        <p:spPr>
          <a:xfrm rot="0">
            <a:off x="6334321" y="497205"/>
            <a:ext cx="11224693" cy="1215390"/>
          </a:xfrm>
          <a:prstGeom prst="rect">
            <a:avLst/>
          </a:prstGeom>
        </p:spPr>
        <p:txBody>
          <a:bodyPr anchor="t" rtlCol="false" tIns="0" lIns="0" bIns="0" rIns="0">
            <a:spAutoFit/>
          </a:bodyPr>
          <a:lstStyle/>
          <a:p>
            <a:pPr algn="ctr">
              <a:lnSpc>
                <a:spcPts val="8730"/>
              </a:lnSpc>
            </a:pPr>
            <a:r>
              <a:rPr lang="en-US" sz="9000" b="true">
                <a:solidFill>
                  <a:srgbClr val="000000"/>
                </a:solidFill>
                <a:latin typeface="Times New Roman Bold"/>
                <a:ea typeface="Times New Roman Bold"/>
                <a:cs typeface="Times New Roman Bold"/>
                <a:sym typeface="Times New Roman Bold"/>
              </a:rPr>
              <a:t>01/ Thiết kế giao diện </a:t>
            </a:r>
          </a:p>
        </p:txBody>
      </p:sp>
      <p:sp>
        <p:nvSpPr>
          <p:cNvPr name="TextBox 5" id="5"/>
          <p:cNvSpPr txBox="true"/>
          <p:nvPr/>
        </p:nvSpPr>
        <p:spPr>
          <a:xfrm rot="0">
            <a:off x="8252124" y="7581617"/>
            <a:ext cx="7707571" cy="666750"/>
          </a:xfrm>
          <a:prstGeom prst="rect">
            <a:avLst/>
          </a:prstGeom>
        </p:spPr>
        <p:txBody>
          <a:bodyPr anchor="t" rtlCol="false" tIns="0" lIns="0" bIns="0" rIns="0">
            <a:spAutoFit/>
          </a:bodyPr>
          <a:lstStyle/>
          <a:p>
            <a:pPr algn="ctr" marL="0" indent="0" lvl="0">
              <a:lnSpc>
                <a:spcPts val="2699"/>
              </a:lnSpc>
              <a:spcBef>
                <a:spcPct val="0"/>
              </a:spcBef>
            </a:pPr>
            <a:r>
              <a:rPr lang="en-US" sz="1999" spc="119">
                <a:solidFill>
                  <a:srgbClr val="000000"/>
                </a:solidFill>
                <a:latin typeface="Times New Roman"/>
                <a:ea typeface="Times New Roman"/>
                <a:cs typeface="Times New Roman"/>
                <a:sym typeface="Times New Roman"/>
              </a:rPr>
              <a:t>Ả</a:t>
            </a:r>
            <a:r>
              <a:rPr lang="en-US" sz="1999" spc="119" u="none">
                <a:solidFill>
                  <a:srgbClr val="000000"/>
                </a:solidFill>
                <a:latin typeface="Times New Roman"/>
                <a:ea typeface="Times New Roman"/>
                <a:cs typeface="Times New Roman"/>
                <a:sym typeface="Times New Roman"/>
              </a:rPr>
              <a:t>nh 7 : Giao diện của FormChiTietHoaDon</a:t>
            </a:r>
          </a:p>
          <a:p>
            <a:pPr algn="ctr" marL="0" indent="0" lvl="0">
              <a:lnSpc>
                <a:spcPts val="269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5282649">
            <a:off x="753178" y="3852356"/>
            <a:ext cx="7567145" cy="2582288"/>
          </a:xfrm>
          <a:custGeom>
            <a:avLst/>
            <a:gdLst/>
            <a:ahLst/>
            <a:cxnLst/>
            <a:rect r="r" b="b" t="t" l="l"/>
            <a:pathLst>
              <a:path h="2582288" w="7567145">
                <a:moveTo>
                  <a:pt x="0" y="0"/>
                </a:moveTo>
                <a:lnTo>
                  <a:pt x="7567144" y="0"/>
                </a:lnTo>
                <a:lnTo>
                  <a:pt x="7567144" y="2582288"/>
                </a:lnTo>
                <a:lnTo>
                  <a:pt x="0" y="25822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7659062" y="1932685"/>
            <a:ext cx="9021088" cy="5409656"/>
          </a:xfrm>
          <a:custGeom>
            <a:avLst/>
            <a:gdLst/>
            <a:ahLst/>
            <a:cxnLst/>
            <a:rect r="r" b="b" t="t" l="l"/>
            <a:pathLst>
              <a:path h="5409656" w="9021088">
                <a:moveTo>
                  <a:pt x="0" y="0"/>
                </a:moveTo>
                <a:lnTo>
                  <a:pt x="9021089" y="0"/>
                </a:lnTo>
                <a:lnTo>
                  <a:pt x="9021089" y="5409656"/>
                </a:lnTo>
                <a:lnTo>
                  <a:pt x="0" y="5409656"/>
                </a:lnTo>
                <a:lnTo>
                  <a:pt x="0" y="0"/>
                </a:lnTo>
                <a:close/>
              </a:path>
            </a:pathLst>
          </a:custGeom>
          <a:blipFill>
            <a:blip r:embed="rId4"/>
            <a:stretch>
              <a:fillRect l="0" t="0" r="0" b="0"/>
            </a:stretch>
          </a:blipFill>
        </p:spPr>
      </p:sp>
      <p:sp>
        <p:nvSpPr>
          <p:cNvPr name="TextBox 4" id="4"/>
          <p:cNvSpPr txBox="true"/>
          <p:nvPr/>
        </p:nvSpPr>
        <p:spPr>
          <a:xfrm rot="0">
            <a:off x="6334321" y="191390"/>
            <a:ext cx="11224693" cy="1741296"/>
          </a:xfrm>
          <a:prstGeom prst="rect">
            <a:avLst/>
          </a:prstGeom>
        </p:spPr>
        <p:txBody>
          <a:bodyPr anchor="t" rtlCol="false" tIns="0" lIns="0" bIns="0" rIns="0">
            <a:spAutoFit/>
          </a:bodyPr>
          <a:lstStyle/>
          <a:p>
            <a:pPr algn="ctr">
              <a:lnSpc>
                <a:spcPts val="3879"/>
              </a:lnSpc>
            </a:pPr>
            <a:r>
              <a:rPr lang="en-US" sz="3999" b="true">
                <a:solidFill>
                  <a:srgbClr val="000000"/>
                </a:solidFill>
                <a:latin typeface="Times New Roman Bold"/>
                <a:ea typeface="Times New Roman Bold"/>
                <a:cs typeface="Times New Roman Bold"/>
                <a:sym typeface="Times New Roman Bold"/>
              </a:rPr>
              <a:t>02/ Cách xây dựng chương trình</a:t>
            </a:r>
          </a:p>
          <a:p>
            <a:pPr algn="ctr">
              <a:lnSpc>
                <a:spcPts val="2715"/>
              </a:lnSpc>
            </a:pPr>
          </a:p>
          <a:p>
            <a:pPr algn="ctr">
              <a:lnSpc>
                <a:spcPts val="2327"/>
              </a:lnSpc>
            </a:pPr>
            <a:r>
              <a:rPr lang="en-US" sz="2399">
                <a:solidFill>
                  <a:srgbClr val="000000"/>
                </a:solidFill>
                <a:latin typeface="Times New Roman"/>
                <a:ea typeface="Times New Roman"/>
                <a:cs typeface="Times New Roman"/>
                <a:sym typeface="Times New Roman"/>
              </a:rPr>
              <a:t>Tạo cơ sở dử liệu để sử dụng gồm tab chí</a:t>
            </a:r>
            <a:r>
              <a:rPr lang="en-US" sz="2399">
                <a:solidFill>
                  <a:srgbClr val="000000"/>
                </a:solidFill>
                <a:latin typeface="Times New Roman"/>
                <a:ea typeface="Times New Roman"/>
                <a:cs typeface="Times New Roman"/>
                <a:sym typeface="Times New Roman"/>
              </a:rPr>
              <a:t>nh như sau: FormQuanLyTV, FormTonKho, FormChiTietHoaDon, FormNhanVien, FormHoaDon, FormkhachHang.</a:t>
            </a:r>
          </a:p>
          <a:p>
            <a:pPr algn="ctr">
              <a:lnSpc>
                <a:spcPts val="2327"/>
              </a:lnSpc>
            </a:pPr>
          </a:p>
        </p:txBody>
      </p:sp>
      <p:sp>
        <p:nvSpPr>
          <p:cNvPr name="TextBox 5" id="5"/>
          <p:cNvSpPr txBox="true"/>
          <p:nvPr/>
        </p:nvSpPr>
        <p:spPr>
          <a:xfrm rot="0">
            <a:off x="8315821" y="7724935"/>
            <a:ext cx="7707571" cy="1000125"/>
          </a:xfrm>
          <a:prstGeom prst="rect">
            <a:avLst/>
          </a:prstGeom>
        </p:spPr>
        <p:txBody>
          <a:bodyPr anchor="t" rtlCol="false" tIns="0" lIns="0" bIns="0" rIns="0">
            <a:spAutoFit/>
          </a:bodyPr>
          <a:lstStyle/>
          <a:p>
            <a:pPr algn="ctr" marL="0" indent="0" lvl="0">
              <a:lnSpc>
                <a:spcPts val="2699"/>
              </a:lnSpc>
              <a:spcBef>
                <a:spcPct val="0"/>
              </a:spcBef>
            </a:pPr>
            <a:r>
              <a:rPr lang="en-US" sz="1999" spc="119">
                <a:solidFill>
                  <a:srgbClr val="000000"/>
                </a:solidFill>
                <a:latin typeface="Times New Roman"/>
                <a:ea typeface="Times New Roman"/>
                <a:cs typeface="Times New Roman"/>
                <a:sym typeface="Times New Roman"/>
              </a:rPr>
              <a:t>Ả</a:t>
            </a:r>
            <a:r>
              <a:rPr lang="en-US" sz="1999" spc="119" u="none">
                <a:solidFill>
                  <a:srgbClr val="000000"/>
                </a:solidFill>
                <a:latin typeface="Times New Roman"/>
                <a:ea typeface="Times New Roman"/>
                <a:cs typeface="Times New Roman"/>
                <a:sym typeface="Times New Roman"/>
              </a:rPr>
              <a:t>nh 8 : Cơ sở dữ liệu </a:t>
            </a:r>
          </a:p>
          <a:p>
            <a:pPr algn="ctr" marL="0" indent="0" lvl="0">
              <a:lnSpc>
                <a:spcPts val="2699"/>
              </a:lnSpc>
              <a:spcBef>
                <a:spcPct val="0"/>
              </a:spcBef>
            </a:pPr>
          </a:p>
          <a:p>
            <a:pPr algn="ctr" marL="0" indent="0" lvl="0">
              <a:lnSpc>
                <a:spcPts val="2699"/>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TextBox 2" id="2"/>
          <p:cNvSpPr txBox="true"/>
          <p:nvPr/>
        </p:nvSpPr>
        <p:spPr>
          <a:xfrm rot="0">
            <a:off x="4136549" y="1800158"/>
            <a:ext cx="10014901" cy="1795145"/>
          </a:xfrm>
          <a:prstGeom prst="rect">
            <a:avLst/>
          </a:prstGeom>
        </p:spPr>
        <p:txBody>
          <a:bodyPr anchor="t" rtlCol="false" tIns="0" lIns="0" bIns="0" rIns="0">
            <a:spAutoFit/>
          </a:bodyPr>
          <a:lstStyle/>
          <a:p>
            <a:pPr algn="ctr">
              <a:lnSpc>
                <a:spcPts val="6789"/>
              </a:lnSpc>
            </a:pPr>
            <a:r>
              <a:rPr lang="en-US" sz="6999" b="true">
                <a:solidFill>
                  <a:srgbClr val="000000"/>
                </a:solidFill>
                <a:latin typeface="Times New Roman Bold"/>
                <a:ea typeface="Times New Roman Bold"/>
                <a:cs typeface="Times New Roman Bold"/>
                <a:sym typeface="Times New Roman Bold"/>
              </a:rPr>
              <a:t>IV. Kết luận</a:t>
            </a:r>
          </a:p>
          <a:p>
            <a:pPr algn="ctr">
              <a:lnSpc>
                <a:spcPts val="6789"/>
              </a:lnSpc>
            </a:pPr>
          </a:p>
        </p:txBody>
      </p:sp>
      <p:sp>
        <p:nvSpPr>
          <p:cNvPr name="TextBox 3" id="3"/>
          <p:cNvSpPr txBox="true"/>
          <p:nvPr/>
        </p:nvSpPr>
        <p:spPr>
          <a:xfrm rot="0">
            <a:off x="4371159" y="3889171"/>
            <a:ext cx="9844046" cy="4048126"/>
          </a:xfrm>
          <a:prstGeom prst="rect">
            <a:avLst/>
          </a:prstGeom>
        </p:spPr>
        <p:txBody>
          <a:bodyPr anchor="t" rtlCol="false" tIns="0" lIns="0" bIns="0" rIns="0">
            <a:spAutoFit/>
          </a:bodyPr>
          <a:lstStyle/>
          <a:p>
            <a:pPr algn="ctr" marL="647694" indent="-323847" lvl="1">
              <a:lnSpc>
                <a:spcPts val="4049"/>
              </a:lnSpc>
              <a:spcBef>
                <a:spcPct val="0"/>
              </a:spcBef>
              <a:buFont typeface="Arial"/>
              <a:buChar char="•"/>
            </a:pPr>
            <a:r>
              <a:rPr lang="en-US" sz="2999" spc="179">
                <a:solidFill>
                  <a:srgbClr val="000000"/>
                </a:solidFill>
                <a:latin typeface="Times New Roman"/>
                <a:ea typeface="Times New Roman"/>
                <a:cs typeface="Times New Roman"/>
                <a:sym typeface="Times New Roman"/>
              </a:rPr>
              <a:t>Phần mề</a:t>
            </a:r>
            <a:r>
              <a:rPr lang="en-US" sz="2999" spc="179" u="none">
                <a:solidFill>
                  <a:srgbClr val="000000"/>
                </a:solidFill>
                <a:latin typeface="Times New Roman"/>
                <a:ea typeface="Times New Roman"/>
                <a:cs typeface="Times New Roman"/>
                <a:sym typeface="Times New Roman"/>
              </a:rPr>
              <a:t>m Quản lý Cửa hàng Tivi là một ứng dụng nhỏ nhưng thực tế, giúp sinh viên rèn luyện kỹ năng lập trình giao diện, thao tác cơ sở dữ liệu và xây dựng hệ thống quản lý hoàn chỉnh.</a:t>
            </a:r>
          </a:p>
          <a:p>
            <a:pPr algn="ctr" marL="647694" indent="-323847" lvl="1">
              <a:lnSpc>
                <a:spcPts val="4049"/>
              </a:lnSpc>
              <a:spcBef>
                <a:spcPct val="0"/>
              </a:spcBef>
              <a:buFont typeface="Arial"/>
              <a:buChar char="•"/>
            </a:pPr>
            <a:r>
              <a:rPr lang="en-US" sz="2999" spc="179" u="none">
                <a:solidFill>
                  <a:srgbClr val="000000"/>
                </a:solidFill>
                <a:latin typeface="Times New Roman"/>
                <a:ea typeface="Times New Roman"/>
                <a:cs typeface="Times New Roman"/>
                <a:sym typeface="Times New Roman"/>
              </a:rPr>
              <a:t>Sinh viên có thể mở rộng hệ thống này thành phần mềm bán hàng hoặc quản lý kho chuyên nghiệp trong tương lai.</a:t>
            </a:r>
          </a:p>
          <a:p>
            <a:pPr algn="ctr" marL="0" indent="0" lvl="0">
              <a:lnSpc>
                <a:spcPts val="4049"/>
              </a:lnSpc>
              <a:spcBef>
                <a:spcPct val="0"/>
              </a:spcBef>
            </a:pPr>
          </a:p>
        </p:txBody>
      </p:sp>
      <p:sp>
        <p:nvSpPr>
          <p:cNvPr name="Freeform 4" id="4"/>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847044" y="988237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7" id="7"/>
          <p:cNvSpPr/>
          <p:nvPr/>
        </p:nvSpPr>
        <p:spPr>
          <a:xfrm flipH="false" flipV="false" rot="0">
            <a:off x="-763398" y="-1534296"/>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8" id="8"/>
          <p:cNvSpPr/>
          <p:nvPr/>
        </p:nvSpPr>
        <p:spPr>
          <a:xfrm flipH="false" flipV="false" rot="0">
            <a:off x="12801533" y="-3053980"/>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9" id="9"/>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10" id="10"/>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11" id="11"/>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2" id="12"/>
          <p:cNvSpPr/>
          <p:nvPr/>
        </p:nvSpPr>
        <p:spPr>
          <a:xfrm flipH="false" flipV="false" rot="0">
            <a:off x="4861154" y="-2102294"/>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3" id="13"/>
          <p:cNvSpPr/>
          <p:nvPr/>
        </p:nvSpPr>
        <p:spPr>
          <a:xfrm flipH="false" flipV="false" rot="0">
            <a:off x="17494810" y="2371030"/>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4" id="14"/>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5" id="15"/>
          <p:cNvSpPr/>
          <p:nvPr/>
        </p:nvSpPr>
        <p:spPr>
          <a:xfrm flipH="false" flipV="false" rot="-5282649">
            <a:off x="16596506" y="6970869"/>
            <a:ext cx="3382987" cy="1154444"/>
          </a:xfrm>
          <a:custGeom>
            <a:avLst/>
            <a:gdLst/>
            <a:ahLst/>
            <a:cxnLst/>
            <a:rect r="r" b="b" t="t" l="l"/>
            <a:pathLst>
              <a:path h="1154444" w="3382987">
                <a:moveTo>
                  <a:pt x="0" y="0"/>
                </a:moveTo>
                <a:lnTo>
                  <a:pt x="3382988" y="0"/>
                </a:lnTo>
                <a:lnTo>
                  <a:pt x="3382988"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6" id="16"/>
          <p:cNvSpPr/>
          <p:nvPr/>
        </p:nvSpPr>
        <p:spPr>
          <a:xfrm flipH="false" flipV="false" rot="0">
            <a:off x="17259300" y="-971659"/>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grpSp>
        <p:nvGrpSpPr>
          <p:cNvPr name="Group 2" id="2"/>
          <p:cNvGrpSpPr/>
          <p:nvPr/>
        </p:nvGrpSpPr>
        <p:grpSpPr>
          <a:xfrm rot="0">
            <a:off x="11672061" y="1025292"/>
            <a:ext cx="5587239" cy="2662922"/>
            <a:chOff x="0" y="0"/>
            <a:chExt cx="2065940" cy="984643"/>
          </a:xfrm>
        </p:grpSpPr>
        <p:sp>
          <p:nvSpPr>
            <p:cNvPr name="Freeform 3" id="3"/>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4" id="4"/>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1672061" y="6595378"/>
            <a:ext cx="5587239" cy="2662922"/>
            <a:chOff x="0" y="0"/>
            <a:chExt cx="2065940" cy="984643"/>
          </a:xfrm>
        </p:grpSpPr>
        <p:sp>
          <p:nvSpPr>
            <p:cNvPr name="Freeform 6" id="6"/>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7" id="7"/>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028700" y="1028700"/>
            <a:ext cx="5587239" cy="2662922"/>
            <a:chOff x="0" y="0"/>
            <a:chExt cx="2065940" cy="984643"/>
          </a:xfrm>
        </p:grpSpPr>
        <p:sp>
          <p:nvSpPr>
            <p:cNvPr name="Freeform 9" id="9"/>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10" id="10"/>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1" id="11"/>
          <p:cNvGrpSpPr/>
          <p:nvPr/>
        </p:nvGrpSpPr>
        <p:grpSpPr>
          <a:xfrm rot="0">
            <a:off x="1028700" y="6598786"/>
            <a:ext cx="5587239" cy="2662922"/>
            <a:chOff x="0" y="0"/>
            <a:chExt cx="2065940" cy="984643"/>
          </a:xfrm>
        </p:grpSpPr>
        <p:sp>
          <p:nvSpPr>
            <p:cNvPr name="Freeform 12" id="12"/>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13" id="13"/>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4" id="14"/>
          <p:cNvSpPr/>
          <p:nvPr/>
        </p:nvSpPr>
        <p:spPr>
          <a:xfrm flipH="false" flipV="false" rot="-7900054">
            <a:off x="7348622" y="2133028"/>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2700000">
            <a:off x="10017119" y="2144497"/>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6" id="16"/>
          <p:cNvSpPr/>
          <p:nvPr/>
        </p:nvSpPr>
        <p:spPr>
          <a:xfrm flipH="false" flipV="false" rot="3209977">
            <a:off x="9982257" y="7689589"/>
            <a:ext cx="1012981" cy="454921"/>
          </a:xfrm>
          <a:custGeom>
            <a:avLst/>
            <a:gdLst/>
            <a:ahLst/>
            <a:cxnLst/>
            <a:rect r="r" b="b" t="t" l="l"/>
            <a:pathLst>
              <a:path h="454921" w="1012981">
                <a:moveTo>
                  <a:pt x="0" y="0"/>
                </a:moveTo>
                <a:lnTo>
                  <a:pt x="1012981" y="0"/>
                </a:lnTo>
                <a:lnTo>
                  <a:pt x="1012981" y="454921"/>
                </a:lnTo>
                <a:lnTo>
                  <a:pt x="0" y="4549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false" flipV="false" rot="7866361">
            <a:off x="7243302" y="7665457"/>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264609" y="1499419"/>
            <a:ext cx="1829699" cy="1745076"/>
          </a:xfrm>
          <a:custGeom>
            <a:avLst/>
            <a:gdLst/>
            <a:ahLst/>
            <a:cxnLst/>
            <a:rect r="r" b="b" t="t" l="l"/>
            <a:pathLst>
              <a:path h="1745076" w="1829699">
                <a:moveTo>
                  <a:pt x="0" y="0"/>
                </a:moveTo>
                <a:lnTo>
                  <a:pt x="1829699" y="0"/>
                </a:lnTo>
                <a:lnTo>
                  <a:pt x="1829699" y="1745076"/>
                </a:lnTo>
                <a:lnTo>
                  <a:pt x="0" y="17450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1206092" y="7066570"/>
            <a:ext cx="1946733" cy="1700958"/>
          </a:xfrm>
          <a:custGeom>
            <a:avLst/>
            <a:gdLst/>
            <a:ahLst/>
            <a:cxnLst/>
            <a:rect r="r" b="b" t="t" l="l"/>
            <a:pathLst>
              <a:path h="1700958" w="1946733">
                <a:moveTo>
                  <a:pt x="0" y="0"/>
                </a:moveTo>
                <a:lnTo>
                  <a:pt x="1946733" y="0"/>
                </a:lnTo>
                <a:lnTo>
                  <a:pt x="1946733" y="1700958"/>
                </a:lnTo>
                <a:lnTo>
                  <a:pt x="0" y="17009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12118917" y="1547255"/>
            <a:ext cx="1521152" cy="1697240"/>
          </a:xfrm>
          <a:custGeom>
            <a:avLst/>
            <a:gdLst/>
            <a:ahLst/>
            <a:cxnLst/>
            <a:rect r="r" b="b" t="t" l="l"/>
            <a:pathLst>
              <a:path h="1697240" w="1521152">
                <a:moveTo>
                  <a:pt x="0" y="0"/>
                </a:moveTo>
                <a:lnTo>
                  <a:pt x="1521151" y="0"/>
                </a:lnTo>
                <a:lnTo>
                  <a:pt x="1521151" y="1697240"/>
                </a:lnTo>
                <a:lnTo>
                  <a:pt x="0" y="16972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11944417" y="7131683"/>
            <a:ext cx="1907691" cy="1635845"/>
          </a:xfrm>
          <a:custGeom>
            <a:avLst/>
            <a:gdLst/>
            <a:ahLst/>
            <a:cxnLst/>
            <a:rect r="r" b="b" t="t" l="l"/>
            <a:pathLst>
              <a:path h="1635845" w="1907691">
                <a:moveTo>
                  <a:pt x="0" y="0"/>
                </a:moveTo>
                <a:lnTo>
                  <a:pt x="1907692" y="0"/>
                </a:lnTo>
                <a:lnTo>
                  <a:pt x="1907692" y="1635845"/>
                </a:lnTo>
                <a:lnTo>
                  <a:pt x="0" y="163584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2" id="22"/>
          <p:cNvSpPr txBox="true"/>
          <p:nvPr/>
        </p:nvSpPr>
        <p:spPr>
          <a:xfrm rot="0">
            <a:off x="14101836" y="1187089"/>
            <a:ext cx="2816627" cy="2360423"/>
          </a:xfrm>
          <a:prstGeom prst="rect">
            <a:avLst/>
          </a:prstGeom>
        </p:spPr>
        <p:txBody>
          <a:bodyPr anchor="t" rtlCol="false" tIns="0" lIns="0" bIns="0" rIns="0">
            <a:spAutoFit/>
          </a:bodyPr>
          <a:lstStyle/>
          <a:p>
            <a:pPr algn="l" marL="0" indent="0" lvl="0">
              <a:lnSpc>
                <a:spcPts val="2383"/>
              </a:lnSpc>
              <a:spcBef>
                <a:spcPct val="0"/>
              </a:spcBef>
            </a:pPr>
            <a:r>
              <a:rPr lang="en-US" sz="1599">
                <a:solidFill>
                  <a:srgbClr val="000000"/>
                </a:solidFill>
                <a:latin typeface="Times New Roman"/>
                <a:ea typeface="Times New Roman"/>
                <a:cs typeface="Times New Roman"/>
                <a:sym typeface="Times New Roman"/>
              </a:rPr>
              <a:t>Xây</a:t>
            </a:r>
            <a:r>
              <a:rPr lang="en-US" sz="1599" strike="noStrike" u="none">
                <a:solidFill>
                  <a:srgbClr val="000000"/>
                </a:solidFill>
                <a:latin typeface="Times New Roman"/>
                <a:ea typeface="Times New Roman"/>
                <a:cs typeface="Times New Roman"/>
                <a:sym typeface="Times New Roman"/>
              </a:rPr>
              <a:t> dựng chương trình quản lý bán hàng bằng C#</a:t>
            </a:r>
          </a:p>
          <a:p>
            <a:pPr algn="l" marL="0" indent="0" lvl="0">
              <a:lnSpc>
                <a:spcPts val="2383"/>
              </a:lnSpc>
              <a:spcBef>
                <a:spcPct val="0"/>
              </a:spcBef>
            </a:pPr>
          </a:p>
          <a:p>
            <a:pPr algn="l" marL="0" indent="0" lvl="0">
              <a:lnSpc>
                <a:spcPts val="2383"/>
              </a:lnSpc>
              <a:spcBef>
                <a:spcPct val="0"/>
              </a:spcBef>
            </a:pPr>
            <a:r>
              <a:rPr lang="en-US" b="true" sz="1599" strike="noStrike" u="none">
                <a:solidFill>
                  <a:srgbClr val="000000"/>
                </a:solidFill>
                <a:latin typeface="Times New Roman Bold"/>
                <a:ea typeface="Times New Roman Bold"/>
                <a:cs typeface="Times New Roman Bold"/>
                <a:sym typeface="Times New Roman Bold"/>
              </a:rPr>
              <a:t>Link : https://timoday.edu.vn/xay-dung-chuong-trinh-quan-ly-ban-hang-bang-c/</a:t>
            </a:r>
          </a:p>
          <a:p>
            <a:pPr algn="l" marL="0" indent="0" lvl="0">
              <a:lnSpc>
                <a:spcPts val="2383"/>
              </a:lnSpc>
              <a:spcBef>
                <a:spcPct val="0"/>
              </a:spcBef>
            </a:pPr>
          </a:p>
        </p:txBody>
      </p:sp>
      <p:sp>
        <p:nvSpPr>
          <p:cNvPr name="TextBox 23" id="23"/>
          <p:cNvSpPr txBox="true"/>
          <p:nvPr/>
        </p:nvSpPr>
        <p:spPr>
          <a:xfrm rot="0">
            <a:off x="14092311" y="7026269"/>
            <a:ext cx="2816627" cy="2142871"/>
          </a:xfrm>
          <a:prstGeom prst="rect">
            <a:avLst/>
          </a:prstGeom>
        </p:spPr>
        <p:txBody>
          <a:bodyPr anchor="t" rtlCol="false" tIns="0" lIns="0" bIns="0" rIns="0">
            <a:spAutoFit/>
          </a:bodyPr>
          <a:lstStyle/>
          <a:p>
            <a:pPr algn="l" marL="0" indent="0" lvl="0">
              <a:lnSpc>
                <a:spcPts val="1936"/>
              </a:lnSpc>
              <a:spcBef>
                <a:spcPct val="0"/>
              </a:spcBef>
            </a:pPr>
            <a:r>
              <a:rPr lang="en-US" sz="1299" strike="noStrike" u="none">
                <a:solidFill>
                  <a:srgbClr val="000000"/>
                </a:solidFill>
                <a:latin typeface="Times New Roman"/>
                <a:ea typeface="Times New Roman"/>
                <a:cs typeface="Times New Roman"/>
                <a:sym typeface="Times New Roman"/>
              </a:rPr>
              <a:t>Lập trình C# WinForm - Phần mềm Quản lý quán Cafe" </a:t>
            </a:r>
          </a:p>
          <a:p>
            <a:pPr algn="l" marL="0" indent="0" lvl="0">
              <a:lnSpc>
                <a:spcPts val="1936"/>
              </a:lnSpc>
              <a:spcBef>
                <a:spcPct val="0"/>
              </a:spcBef>
            </a:pPr>
          </a:p>
          <a:p>
            <a:pPr algn="l" marL="0" indent="0" lvl="0">
              <a:lnSpc>
                <a:spcPts val="2383"/>
              </a:lnSpc>
              <a:spcBef>
                <a:spcPct val="0"/>
              </a:spcBef>
            </a:pPr>
            <a:r>
              <a:rPr lang="en-US" b="true" sz="1599" strike="noStrike" u="none">
                <a:solidFill>
                  <a:srgbClr val="000000"/>
                </a:solidFill>
                <a:latin typeface="Times New Roman Bold"/>
                <a:ea typeface="Times New Roman Bold"/>
                <a:cs typeface="Times New Roman Bold"/>
                <a:sym typeface="Times New Roman Bold"/>
              </a:rPr>
              <a:t>Link: https://howkteam.vn/course/lap-trinh-c-winform-phan-mem-quan-ly-quan-cafe-28</a:t>
            </a:r>
          </a:p>
          <a:p>
            <a:pPr algn="l" marL="0" indent="0" lvl="0">
              <a:lnSpc>
                <a:spcPts val="1936"/>
              </a:lnSpc>
              <a:spcBef>
                <a:spcPct val="0"/>
              </a:spcBef>
            </a:pPr>
          </a:p>
        </p:txBody>
      </p:sp>
      <p:sp>
        <p:nvSpPr>
          <p:cNvPr name="TextBox 24" id="24"/>
          <p:cNvSpPr txBox="true"/>
          <p:nvPr/>
        </p:nvSpPr>
        <p:spPr>
          <a:xfrm rot="0">
            <a:off x="3458475" y="1187089"/>
            <a:ext cx="2816627" cy="2655698"/>
          </a:xfrm>
          <a:prstGeom prst="rect">
            <a:avLst/>
          </a:prstGeom>
        </p:spPr>
        <p:txBody>
          <a:bodyPr anchor="t" rtlCol="false" tIns="0" lIns="0" bIns="0" rIns="0">
            <a:spAutoFit/>
          </a:bodyPr>
          <a:lstStyle/>
          <a:p>
            <a:pPr algn="l" marL="0" indent="0" lvl="0">
              <a:lnSpc>
                <a:spcPts val="2383"/>
              </a:lnSpc>
            </a:pPr>
            <a:r>
              <a:rPr lang="en-US" sz="1599">
                <a:solidFill>
                  <a:srgbClr val="000000"/>
                </a:solidFill>
                <a:latin typeface="Times New Roman"/>
                <a:ea typeface="Times New Roman"/>
                <a:cs typeface="Times New Roman"/>
                <a:sym typeface="Times New Roman"/>
              </a:rPr>
              <a:t>V</a:t>
            </a:r>
            <a:r>
              <a:rPr lang="en-US" sz="1599" strike="noStrike" u="none">
                <a:solidFill>
                  <a:srgbClr val="000000"/>
                </a:solidFill>
                <a:latin typeface="Times New Roman"/>
                <a:ea typeface="Times New Roman"/>
                <a:cs typeface="Times New Roman"/>
                <a:sym typeface="Times New Roman"/>
              </a:rPr>
              <a:t>iblo (Cộng đồng IT Việt Nam): Nơi chia sẻ các bài viết về kỹ thuật xử lý cụ thể (ví dụ: kết nối SQL, mô hình 3 lớp)</a:t>
            </a:r>
          </a:p>
          <a:p>
            <a:pPr algn="l" marL="0" indent="0" lvl="0">
              <a:lnSpc>
                <a:spcPts val="2383"/>
              </a:lnSpc>
            </a:pPr>
          </a:p>
          <a:p>
            <a:pPr algn="l" marL="0" indent="0" lvl="0">
              <a:lnSpc>
                <a:spcPts val="2383"/>
              </a:lnSpc>
            </a:pPr>
            <a:r>
              <a:rPr lang="en-US" b="true" sz="1599" strike="noStrike" u="none">
                <a:solidFill>
                  <a:srgbClr val="000000"/>
                </a:solidFill>
                <a:latin typeface="Times New Roman Bold"/>
                <a:ea typeface="Times New Roman Bold"/>
                <a:cs typeface="Times New Roman Bold"/>
                <a:sym typeface="Times New Roman Bold"/>
              </a:rPr>
              <a:t>Link: </a:t>
            </a:r>
          </a:p>
          <a:p>
            <a:pPr algn="l" marL="0" indent="0" lvl="0">
              <a:lnSpc>
                <a:spcPts val="2383"/>
              </a:lnSpc>
            </a:pPr>
            <a:r>
              <a:rPr lang="en-US" b="true" sz="1599" strike="noStrike" u="none">
                <a:solidFill>
                  <a:srgbClr val="000000"/>
                </a:solidFill>
                <a:latin typeface="Times New Roman Bold"/>
                <a:ea typeface="Times New Roman Bold"/>
                <a:cs typeface="Times New Roman Bold"/>
                <a:sym typeface="Times New Roman Bold"/>
              </a:rPr>
              <a:t>https://viblo.asia/search?q=quản lý bán hàng C#</a:t>
            </a:r>
          </a:p>
          <a:p>
            <a:pPr algn="l" marL="0" indent="0" lvl="0">
              <a:lnSpc>
                <a:spcPts val="2383"/>
              </a:lnSpc>
            </a:pPr>
          </a:p>
        </p:txBody>
      </p:sp>
      <p:sp>
        <p:nvSpPr>
          <p:cNvPr name="TextBox 25" id="25"/>
          <p:cNvSpPr txBox="true"/>
          <p:nvPr/>
        </p:nvSpPr>
        <p:spPr>
          <a:xfrm rot="0">
            <a:off x="3458475" y="7050401"/>
            <a:ext cx="2816627" cy="2360423"/>
          </a:xfrm>
          <a:prstGeom prst="rect">
            <a:avLst/>
          </a:prstGeom>
        </p:spPr>
        <p:txBody>
          <a:bodyPr anchor="t" rtlCol="false" tIns="0" lIns="0" bIns="0" rIns="0">
            <a:spAutoFit/>
          </a:bodyPr>
          <a:lstStyle/>
          <a:p>
            <a:pPr algn="l" marL="0" indent="0" lvl="0">
              <a:lnSpc>
                <a:spcPts val="2383"/>
              </a:lnSpc>
            </a:pPr>
            <a:r>
              <a:rPr lang="en-US" sz="1599" strike="noStrike" u="none">
                <a:solidFill>
                  <a:srgbClr val="000000"/>
                </a:solidFill>
                <a:latin typeface="Times New Roman"/>
                <a:ea typeface="Times New Roman"/>
                <a:cs typeface="Times New Roman"/>
                <a:sym typeface="Times New Roman"/>
              </a:rPr>
              <a:t>Laptrinhvb.net: Kho tàng source code của sinh viên Việt Nam</a:t>
            </a:r>
          </a:p>
          <a:p>
            <a:pPr algn="l" marL="0" indent="0" lvl="0">
              <a:lnSpc>
                <a:spcPts val="2383"/>
              </a:lnSpc>
            </a:pPr>
          </a:p>
          <a:p>
            <a:pPr algn="l" marL="0" indent="0" lvl="0">
              <a:lnSpc>
                <a:spcPts val="2383"/>
              </a:lnSpc>
            </a:pPr>
            <a:r>
              <a:rPr lang="en-US" b="true" sz="1599" strike="noStrike" u="none">
                <a:solidFill>
                  <a:srgbClr val="000000"/>
                </a:solidFill>
                <a:latin typeface="Times New Roman Bold"/>
                <a:ea typeface="Times New Roman Bold"/>
                <a:cs typeface="Times New Roman Bold"/>
                <a:sym typeface="Times New Roman Bold"/>
              </a:rPr>
              <a:t>Link:</a:t>
            </a:r>
          </a:p>
          <a:p>
            <a:pPr algn="l" marL="0" indent="0" lvl="0">
              <a:lnSpc>
                <a:spcPts val="2383"/>
              </a:lnSpc>
            </a:pPr>
            <a:r>
              <a:rPr lang="en-US" b="true" sz="1599" strike="noStrike" u="none">
                <a:solidFill>
                  <a:srgbClr val="000000"/>
                </a:solidFill>
                <a:latin typeface="Times New Roman Bold"/>
                <a:ea typeface="Times New Roman Bold"/>
                <a:cs typeface="Times New Roman Bold"/>
                <a:sym typeface="Times New Roman Bold"/>
              </a:rPr>
              <a:t> https://laptrinhvb.net/ </a:t>
            </a:r>
          </a:p>
          <a:p>
            <a:pPr algn="l" marL="0" indent="0" lvl="0">
              <a:lnSpc>
                <a:spcPts val="2383"/>
              </a:lnSpc>
            </a:pPr>
          </a:p>
          <a:p>
            <a:pPr algn="l" marL="0" indent="0" lvl="0">
              <a:lnSpc>
                <a:spcPts val="2383"/>
              </a:lnSpc>
            </a:pPr>
          </a:p>
          <a:p>
            <a:pPr algn="l" marL="0" indent="0" lvl="0">
              <a:lnSpc>
                <a:spcPts val="2383"/>
              </a:lnSpc>
            </a:pPr>
          </a:p>
        </p:txBody>
      </p:sp>
      <p:sp>
        <p:nvSpPr>
          <p:cNvPr name="TextBox 26" id="26"/>
          <p:cNvSpPr txBox="true"/>
          <p:nvPr/>
        </p:nvSpPr>
        <p:spPr>
          <a:xfrm rot="0">
            <a:off x="6995244" y="3943598"/>
            <a:ext cx="4297511" cy="1880113"/>
          </a:xfrm>
          <a:prstGeom prst="rect">
            <a:avLst/>
          </a:prstGeom>
        </p:spPr>
        <p:txBody>
          <a:bodyPr anchor="t" rtlCol="false" tIns="0" lIns="0" bIns="0" rIns="0">
            <a:spAutoFit/>
          </a:bodyPr>
          <a:lstStyle/>
          <a:p>
            <a:pPr algn="ctr" marL="0" indent="0" lvl="1">
              <a:lnSpc>
                <a:spcPts val="7081"/>
              </a:lnSpc>
              <a:spcBef>
                <a:spcPct val="0"/>
              </a:spcBef>
            </a:pPr>
            <a:r>
              <a:rPr lang="en-US" b="true" sz="7300">
                <a:solidFill>
                  <a:srgbClr val="000000"/>
                </a:solidFill>
                <a:latin typeface="Times New Roman Bold"/>
                <a:ea typeface="Times New Roman Bold"/>
                <a:cs typeface="Times New Roman Bold"/>
                <a:sym typeface="Times New Roman Bold"/>
              </a:rPr>
              <a:t>V. Tài liệu tham khảo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1F1F1"/>
        </a:solidFill>
      </p:bgPr>
    </p:bg>
    <p:spTree>
      <p:nvGrpSpPr>
        <p:cNvPr id="1" name=""/>
        <p:cNvGrpSpPr/>
        <p:nvPr/>
      </p:nvGrpSpPr>
      <p:grpSpPr>
        <a:xfrm>
          <a:off x="0" y="0"/>
          <a:ext cx="0" cy="0"/>
          <a:chOff x="0" y="0"/>
          <a:chExt cx="0" cy="0"/>
        </a:xfrm>
      </p:grpSpPr>
      <p:sp>
        <p:nvSpPr>
          <p:cNvPr name="Freeform 2" id="2"/>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6" id="6"/>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7" id="7"/>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8" id="8"/>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9" id="9"/>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sp>
        <p:nvSpPr>
          <p:cNvPr name="Freeform 10" id="10"/>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sp>
        <p:nvSpPr>
          <p:cNvPr name="Freeform 11" id="11"/>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2" id="12"/>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3" id="13"/>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a:ln cap="sq">
            <a:noFill/>
            <a:prstDash val="solid"/>
            <a:miter/>
          </a:ln>
        </p:spPr>
      </p:sp>
      <p:sp>
        <p:nvSpPr>
          <p:cNvPr name="Freeform 14" id="14"/>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TextBox 15" id="15"/>
          <p:cNvSpPr txBox="true"/>
          <p:nvPr/>
        </p:nvSpPr>
        <p:spPr>
          <a:xfrm rot="0">
            <a:off x="3688802" y="2953192"/>
            <a:ext cx="10910396" cy="3431186"/>
          </a:xfrm>
          <a:prstGeom prst="rect">
            <a:avLst/>
          </a:prstGeom>
        </p:spPr>
        <p:txBody>
          <a:bodyPr anchor="t" rtlCol="false" tIns="0" lIns="0" bIns="0" rIns="0">
            <a:spAutoFit/>
          </a:bodyPr>
          <a:lstStyle/>
          <a:p>
            <a:pPr algn="ctr">
              <a:lnSpc>
                <a:spcPts val="12699"/>
              </a:lnSpc>
            </a:pPr>
            <a:r>
              <a:rPr lang="en-US" b="true" sz="14597">
                <a:solidFill>
                  <a:srgbClr val="000000"/>
                </a:solidFill>
                <a:latin typeface="Times New Roman Bold"/>
                <a:ea typeface="Times New Roman Bold"/>
                <a:cs typeface="Times New Roman Bold"/>
                <a:sym typeface="Times New Roman Bold"/>
              </a:rPr>
              <a:t>Thank you 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DAG5bcI2gdg</dc:identifier>
  <dcterms:modified xsi:type="dcterms:W3CDTF">2011-08-01T06:04:30Z</dcterms:modified>
  <cp:revision>1</cp:revision>
  <dc:title>QuanLyCuaHangTV_Nhom10_dotnet </dc:title>
</cp:coreProperties>
</file>